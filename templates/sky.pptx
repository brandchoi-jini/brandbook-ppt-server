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24384000" cy="13716000"/>
  <p:notesSz cx="6858000" cy="9144000"/>
  <p:embeddedFontLst>
    <p:embeddedFont>
      <p:font typeface="NanumSquare ExtraBold"/>
      <p:bold r:id="rId25"/>
    </p:embeddedFont>
    <p:embeddedFont>
      <p:font typeface="NanumSquare Regular"/>
      <p:regular r:id="rId26"/>
    </p:embeddedFont>
    <p:embeddedFont>
      <p:font typeface="NanumSquare Bold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1.fntdata" Type="http://schemas.openxmlformats.org/officeDocument/2006/relationships/font"/><Relationship Id="rId26" Target="fonts/font2.fntdata" Type="http://schemas.openxmlformats.org/officeDocument/2006/relationships/font"/><Relationship Id="rId27" Target="fonts/font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2" Target="../media/image9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14" Target="../media/image28.png" Type="http://schemas.openxmlformats.org/officeDocument/2006/relationships/image"/><Relationship Id="rId15" Target="../media/image29.png" Type="http://schemas.openxmlformats.org/officeDocument/2006/relationships/image"/><Relationship Id="rId16" Target="../media/image30.png" Type="http://schemas.openxmlformats.org/officeDocument/2006/relationships/image"/><Relationship Id="rId17" Target="../media/image31.png" Type="http://schemas.openxmlformats.org/officeDocument/2006/relationships/image"/><Relationship Id="rId18" Target="../media/image32.png" Type="http://schemas.openxmlformats.org/officeDocument/2006/relationships/image"/><Relationship Id="rId19" Target="../media/image33.png" Type="http://schemas.openxmlformats.org/officeDocument/2006/relationships/image"/><Relationship Id="rId2" Target="../media/image18.png" Type="http://schemas.openxmlformats.org/officeDocument/2006/relationships/image"/><Relationship Id="rId20" Target="../media/image34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png" Type="http://schemas.openxmlformats.org/officeDocument/2006/relationships/image"/><Relationship Id="rId12" Target="../media/image43.png" Type="http://schemas.openxmlformats.org/officeDocument/2006/relationships/image"/><Relationship Id="rId13" Target="../media/image44.png" Type="http://schemas.openxmlformats.org/officeDocument/2006/relationships/image"/><Relationship Id="rId14" Target="../media/image45.png" Type="http://schemas.openxmlformats.org/officeDocument/2006/relationships/image"/><Relationship Id="rId15" Target="../media/image46.png" Type="http://schemas.openxmlformats.org/officeDocument/2006/relationships/image"/><Relationship Id="rId2" Target="../media/image35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png" Type="http://schemas.openxmlformats.org/officeDocument/2006/relationships/image"/><Relationship Id="rId12" Target="../media/image55.png" Type="http://schemas.openxmlformats.org/officeDocument/2006/relationships/image"/><Relationship Id="rId13" Target="../media/image56.png" Type="http://schemas.openxmlformats.org/officeDocument/2006/relationships/image"/><Relationship Id="rId14" Target="../media/image57.png" Type="http://schemas.openxmlformats.org/officeDocument/2006/relationships/image"/><Relationship Id="rId15" Target="../media/image58.png" Type="http://schemas.openxmlformats.org/officeDocument/2006/relationships/image"/><Relationship Id="rId16" Target="../media/image59.png" Type="http://schemas.openxmlformats.org/officeDocument/2006/relationships/image"/><Relationship Id="rId17" Target="../media/image60.png" Type="http://schemas.openxmlformats.org/officeDocument/2006/relationships/image"/><Relationship Id="rId18" Target="../media/image61.png" Type="http://schemas.openxmlformats.org/officeDocument/2006/relationships/image"/><Relationship Id="rId19" Target="../media/image62.png" Type="http://schemas.openxmlformats.org/officeDocument/2006/relationships/image"/><Relationship Id="rId2" Target="../media/image47.png" Type="http://schemas.openxmlformats.org/officeDocument/2006/relationships/image"/><Relationship Id="rId20" Target="../media/image63.png" Type="http://schemas.openxmlformats.org/officeDocument/2006/relationships/image"/><Relationship Id="rId21" Target="../media/image64.png" Type="http://schemas.openxmlformats.org/officeDocument/2006/relationships/image"/><Relationship Id="rId22" Target="../media/image65.png" Type="http://schemas.openxmlformats.org/officeDocument/2006/relationships/image"/><Relationship Id="rId23" Target="../media/image66.png" Type="http://schemas.openxmlformats.org/officeDocument/2006/relationships/image"/><Relationship Id="rId24" Target="../media/image67.png" Type="http://schemas.openxmlformats.org/officeDocument/2006/relationships/image"/><Relationship Id="rId25" Target="../media/image68.png" Type="http://schemas.openxmlformats.org/officeDocument/2006/relationships/image"/><Relationship Id="rId26" Target="../media/image69.png" Type="http://schemas.openxmlformats.org/officeDocument/2006/relationships/image"/><Relationship Id="rId27" Target="../media/image70.png" Type="http://schemas.openxmlformats.org/officeDocument/2006/relationships/image"/><Relationship Id="rId28" Target="../media/image71.png" Type="http://schemas.openxmlformats.org/officeDocument/2006/relationships/image"/><Relationship Id="rId29" Target="../media/image72.png" Type="http://schemas.openxmlformats.org/officeDocument/2006/relationships/image"/><Relationship Id="rId3" Target="../media/image2.png" Type="http://schemas.openxmlformats.org/officeDocument/2006/relationships/image"/><Relationship Id="rId30" Target="../media/image73.png" Type="http://schemas.openxmlformats.org/officeDocument/2006/relationships/image"/><Relationship Id="rId31" Target="../media/image74.png" Type="http://schemas.openxmlformats.org/officeDocument/2006/relationships/image"/><Relationship Id="rId32" Target="../media/image75.png" Type="http://schemas.openxmlformats.org/officeDocument/2006/relationships/image"/><Relationship Id="rId4" Target="../media/image3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11" Target="../media/image83.png" Type="http://schemas.openxmlformats.org/officeDocument/2006/relationships/image"/><Relationship Id="rId12" Target="../media/image84.png" Type="http://schemas.openxmlformats.org/officeDocument/2006/relationships/image"/><Relationship Id="rId13" Target="../media/image75.png" Type="http://schemas.openxmlformats.org/officeDocument/2006/relationships/image"/><Relationship Id="rId14" Target="../media/image85.png" Type="http://schemas.openxmlformats.org/officeDocument/2006/relationships/image"/><Relationship Id="rId15" Target="../media/image86.png" Type="http://schemas.openxmlformats.org/officeDocument/2006/relationships/image"/><Relationship Id="rId16" Target="../media/image87.png" Type="http://schemas.openxmlformats.org/officeDocument/2006/relationships/image"/><Relationship Id="rId17" Target="../media/image88.png" Type="http://schemas.openxmlformats.org/officeDocument/2006/relationships/image"/><Relationship Id="rId18" Target="../media/image89.png" Type="http://schemas.openxmlformats.org/officeDocument/2006/relationships/image"/><Relationship Id="rId19" Target="../media/image90.png" Type="http://schemas.openxmlformats.org/officeDocument/2006/relationships/image"/><Relationship Id="rId2" Target="../media/image76.png" Type="http://schemas.openxmlformats.org/officeDocument/2006/relationships/image"/><Relationship Id="rId20" Target="../media/image91.png" Type="http://schemas.openxmlformats.org/officeDocument/2006/relationships/image"/><Relationship Id="rId21" Target="../media/image92.png" Type="http://schemas.openxmlformats.org/officeDocument/2006/relationships/image"/><Relationship Id="rId22" Target="../media/image93.png" Type="http://schemas.openxmlformats.org/officeDocument/2006/relationships/image"/><Relationship Id="rId23" Target="../media/image94.png" Type="http://schemas.openxmlformats.org/officeDocument/2006/relationships/image"/><Relationship Id="rId24" Target="../media/image95.png" Type="http://schemas.openxmlformats.org/officeDocument/2006/relationships/image"/><Relationship Id="rId25" Target="../media/image96.png" Type="http://schemas.openxmlformats.org/officeDocument/2006/relationships/image"/><Relationship Id="rId26" Target="../media/image97.png" Type="http://schemas.openxmlformats.org/officeDocument/2006/relationships/image"/><Relationship Id="rId27" Target="../media/image98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77.png" Type="http://schemas.openxmlformats.org/officeDocument/2006/relationships/image"/><Relationship Id="rId6" Target="../media/image78.png" Type="http://schemas.openxmlformats.org/officeDocument/2006/relationships/image"/><Relationship Id="rId7" Target="../media/image79.png" Type="http://schemas.openxmlformats.org/officeDocument/2006/relationships/image"/><Relationship Id="rId8" Target="../media/image80.png" Type="http://schemas.openxmlformats.org/officeDocument/2006/relationships/image"/><Relationship Id="rId9" Target="../media/image8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5.png" Type="http://schemas.openxmlformats.org/officeDocument/2006/relationships/image"/><Relationship Id="rId11" Target="../media/image106.png" Type="http://schemas.openxmlformats.org/officeDocument/2006/relationships/image"/><Relationship Id="rId12" Target="../media/image107.png" Type="http://schemas.openxmlformats.org/officeDocument/2006/relationships/image"/><Relationship Id="rId13" Target="../media/image108.png" Type="http://schemas.openxmlformats.org/officeDocument/2006/relationships/image"/><Relationship Id="rId14" Target="../media/image109.png" Type="http://schemas.openxmlformats.org/officeDocument/2006/relationships/image"/><Relationship Id="rId15" Target="../media/image110.png" Type="http://schemas.openxmlformats.org/officeDocument/2006/relationships/image"/><Relationship Id="rId16" Target="../media/image111.png" Type="http://schemas.openxmlformats.org/officeDocument/2006/relationships/image"/><Relationship Id="rId17" Target="../media/image112.png" Type="http://schemas.openxmlformats.org/officeDocument/2006/relationships/image"/><Relationship Id="rId2" Target="../media/image99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00.png" Type="http://schemas.openxmlformats.org/officeDocument/2006/relationships/image"/><Relationship Id="rId6" Target="../media/image101.png" Type="http://schemas.openxmlformats.org/officeDocument/2006/relationships/image"/><Relationship Id="rId7" Target="../media/image102.png" Type="http://schemas.openxmlformats.org/officeDocument/2006/relationships/image"/><Relationship Id="rId8" Target="../media/image103.png" Type="http://schemas.openxmlformats.org/officeDocument/2006/relationships/image"/><Relationship Id="rId9" Target="../media/image10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9.png" Type="http://schemas.openxmlformats.org/officeDocument/2006/relationships/image"/><Relationship Id="rId11" Target="../media/image120.png" Type="http://schemas.openxmlformats.org/officeDocument/2006/relationships/image"/><Relationship Id="rId12" Target="../media/image121.png" Type="http://schemas.openxmlformats.org/officeDocument/2006/relationships/image"/><Relationship Id="rId13" Target="../media/image122.png" Type="http://schemas.openxmlformats.org/officeDocument/2006/relationships/image"/><Relationship Id="rId14" Target="../media/image123.png" Type="http://schemas.openxmlformats.org/officeDocument/2006/relationships/image"/><Relationship Id="rId15" Target="../media/image124.png" Type="http://schemas.openxmlformats.org/officeDocument/2006/relationships/image"/><Relationship Id="rId16" Target="../media/image125.png" Type="http://schemas.openxmlformats.org/officeDocument/2006/relationships/image"/><Relationship Id="rId17" Target="../media/image126.png" Type="http://schemas.openxmlformats.org/officeDocument/2006/relationships/image"/><Relationship Id="rId2" Target="../media/image113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14.png" Type="http://schemas.openxmlformats.org/officeDocument/2006/relationships/image"/><Relationship Id="rId6" Target="../media/image115.png" Type="http://schemas.openxmlformats.org/officeDocument/2006/relationships/image"/><Relationship Id="rId7" Target="../media/image116.png" Type="http://schemas.openxmlformats.org/officeDocument/2006/relationships/image"/><Relationship Id="rId8" Target="../media/image117.png" Type="http://schemas.openxmlformats.org/officeDocument/2006/relationships/image"/><Relationship Id="rId9" Target="../media/image1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2.png" Type="http://schemas.openxmlformats.org/officeDocument/2006/relationships/image"/><Relationship Id="rId11" Target="../media/image82.png" Type="http://schemas.openxmlformats.org/officeDocument/2006/relationships/image"/><Relationship Id="rId12" Target="../media/image133.png" Type="http://schemas.openxmlformats.org/officeDocument/2006/relationships/image"/><Relationship Id="rId13" Target="../media/image134.png" Type="http://schemas.openxmlformats.org/officeDocument/2006/relationships/image"/><Relationship Id="rId14" Target="../media/image135.png" Type="http://schemas.openxmlformats.org/officeDocument/2006/relationships/image"/><Relationship Id="rId15" Target="../media/image136.png" Type="http://schemas.openxmlformats.org/officeDocument/2006/relationships/image"/><Relationship Id="rId16" Target="../media/image137.png" Type="http://schemas.openxmlformats.org/officeDocument/2006/relationships/image"/><Relationship Id="rId17" Target="../media/image138.png" Type="http://schemas.openxmlformats.org/officeDocument/2006/relationships/image"/><Relationship Id="rId18" Target="../media/image139.png" Type="http://schemas.openxmlformats.org/officeDocument/2006/relationships/image"/><Relationship Id="rId19" Target="../media/image140.png" Type="http://schemas.openxmlformats.org/officeDocument/2006/relationships/image"/><Relationship Id="rId2" Target="../media/image127.png" Type="http://schemas.openxmlformats.org/officeDocument/2006/relationships/image"/><Relationship Id="rId20" Target="../media/image141.png" Type="http://schemas.openxmlformats.org/officeDocument/2006/relationships/image"/><Relationship Id="rId21" Target="../media/image142.png" Type="http://schemas.openxmlformats.org/officeDocument/2006/relationships/image"/><Relationship Id="rId22" Target="../media/image143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28.png" Type="http://schemas.openxmlformats.org/officeDocument/2006/relationships/image"/><Relationship Id="rId6" Target="../media/image129.png" Type="http://schemas.openxmlformats.org/officeDocument/2006/relationships/image"/><Relationship Id="rId7" Target="../media/image130.png" Type="http://schemas.openxmlformats.org/officeDocument/2006/relationships/image"/><Relationship Id="rId8" Target="../media/image131.png" Type="http://schemas.openxmlformats.org/officeDocument/2006/relationships/image"/><Relationship Id="rId9" Target="../media/image7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148.png" Type="http://schemas.openxmlformats.org/officeDocument/2006/relationships/image"/><Relationship Id="rId12" Target="../media/image149.png" Type="http://schemas.openxmlformats.org/officeDocument/2006/relationships/image"/><Relationship Id="rId13" Target="../media/image150.png" Type="http://schemas.openxmlformats.org/officeDocument/2006/relationships/image"/><Relationship Id="rId14" Target="../media/image151.png" Type="http://schemas.openxmlformats.org/officeDocument/2006/relationships/image"/><Relationship Id="rId15" Target="../media/image152.png" Type="http://schemas.openxmlformats.org/officeDocument/2006/relationships/image"/><Relationship Id="rId16" Target="../media/image153.png" Type="http://schemas.openxmlformats.org/officeDocument/2006/relationships/image"/><Relationship Id="rId2" Target="../media/image144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45.png" Type="http://schemas.openxmlformats.org/officeDocument/2006/relationships/image"/><Relationship Id="rId6" Target="../media/image146.png" Type="http://schemas.openxmlformats.org/officeDocument/2006/relationships/image"/><Relationship Id="rId7" Target="../media/image83.png" Type="http://schemas.openxmlformats.org/officeDocument/2006/relationships/image"/><Relationship Id="rId8" Target="../media/image147.pn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0.png" Type="http://schemas.openxmlformats.org/officeDocument/2006/relationships/image"/><Relationship Id="rId11" Target="../media/image161.png" Type="http://schemas.openxmlformats.org/officeDocument/2006/relationships/image"/><Relationship Id="rId12" Target="../media/image162.png" Type="http://schemas.openxmlformats.org/officeDocument/2006/relationships/image"/><Relationship Id="rId13" Target="../media/image163.png" Type="http://schemas.openxmlformats.org/officeDocument/2006/relationships/image"/><Relationship Id="rId14" Target="../media/image164.png" Type="http://schemas.openxmlformats.org/officeDocument/2006/relationships/image"/><Relationship Id="rId15" Target="../media/image165.png" Type="http://schemas.openxmlformats.org/officeDocument/2006/relationships/image"/><Relationship Id="rId2" Target="../media/image154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55.png" Type="http://schemas.openxmlformats.org/officeDocument/2006/relationships/image"/><Relationship Id="rId6" Target="../media/image156.png" Type="http://schemas.openxmlformats.org/officeDocument/2006/relationships/image"/><Relationship Id="rId7" Target="../media/image157.png" Type="http://schemas.openxmlformats.org/officeDocument/2006/relationships/image"/><Relationship Id="rId8" Target="../media/image158.png" Type="http://schemas.openxmlformats.org/officeDocument/2006/relationships/image"/><Relationship Id="rId9" Target="../media/image15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2.png" Type="http://schemas.openxmlformats.org/officeDocument/2006/relationships/image"/><Relationship Id="rId11" Target="../media/image173.png" Type="http://schemas.openxmlformats.org/officeDocument/2006/relationships/image"/><Relationship Id="rId12" Target="../media/image174.png" Type="http://schemas.openxmlformats.org/officeDocument/2006/relationships/image"/><Relationship Id="rId13" Target="../media/image175.png" Type="http://schemas.openxmlformats.org/officeDocument/2006/relationships/image"/><Relationship Id="rId14" Target="../media/image176.png" Type="http://schemas.openxmlformats.org/officeDocument/2006/relationships/image"/><Relationship Id="rId15" Target="../media/image177.png" Type="http://schemas.openxmlformats.org/officeDocument/2006/relationships/image"/><Relationship Id="rId16" Target="../media/image178.png" Type="http://schemas.openxmlformats.org/officeDocument/2006/relationships/image"/><Relationship Id="rId17" Target="../media/image179.png" Type="http://schemas.openxmlformats.org/officeDocument/2006/relationships/image"/><Relationship Id="rId18" Target="../media/image180.png" Type="http://schemas.openxmlformats.org/officeDocument/2006/relationships/image"/><Relationship Id="rId19" Target="../media/image181.png" Type="http://schemas.openxmlformats.org/officeDocument/2006/relationships/image"/><Relationship Id="rId2" Target="../media/image166.png" Type="http://schemas.openxmlformats.org/officeDocument/2006/relationships/image"/><Relationship Id="rId20" Target="../media/image182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67.png" Type="http://schemas.openxmlformats.org/officeDocument/2006/relationships/image"/><Relationship Id="rId6" Target="../media/image168.png" Type="http://schemas.openxmlformats.org/officeDocument/2006/relationships/image"/><Relationship Id="rId7" Target="../media/image169.png" Type="http://schemas.openxmlformats.org/officeDocument/2006/relationships/image"/><Relationship Id="rId8" Target="../media/image170.png" Type="http://schemas.openxmlformats.org/officeDocument/2006/relationships/image"/><Relationship Id="rId9" Target="../media/image17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9.png" Type="http://schemas.openxmlformats.org/officeDocument/2006/relationships/image"/><Relationship Id="rId11" Target="../media/image190.png" Type="http://schemas.openxmlformats.org/officeDocument/2006/relationships/image"/><Relationship Id="rId12" Target="../media/image191.png" Type="http://schemas.openxmlformats.org/officeDocument/2006/relationships/image"/><Relationship Id="rId13" Target="../media/image192.png" Type="http://schemas.openxmlformats.org/officeDocument/2006/relationships/image"/><Relationship Id="rId14" Target="../media/image193.png" Type="http://schemas.openxmlformats.org/officeDocument/2006/relationships/image"/><Relationship Id="rId15" Target="../media/image194.png" Type="http://schemas.openxmlformats.org/officeDocument/2006/relationships/image"/><Relationship Id="rId16" Target="../media/image195.png" Type="http://schemas.openxmlformats.org/officeDocument/2006/relationships/image"/><Relationship Id="rId17" Target="../media/image196.png" Type="http://schemas.openxmlformats.org/officeDocument/2006/relationships/image"/><Relationship Id="rId18" Target="../media/image197.png" Type="http://schemas.openxmlformats.org/officeDocument/2006/relationships/image"/><Relationship Id="rId19" Target="../media/image198.png" Type="http://schemas.openxmlformats.org/officeDocument/2006/relationships/image"/><Relationship Id="rId2" Target="../media/image183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84.png" Type="http://schemas.openxmlformats.org/officeDocument/2006/relationships/image"/><Relationship Id="rId6" Target="../media/image185.png" Type="http://schemas.openxmlformats.org/officeDocument/2006/relationships/image"/><Relationship Id="rId7" Target="../media/image186.png" Type="http://schemas.openxmlformats.org/officeDocument/2006/relationships/image"/><Relationship Id="rId8" Target="../media/image187.png" Type="http://schemas.openxmlformats.org/officeDocument/2006/relationships/image"/><Relationship Id="rId9" Target="../media/image18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5.png" Type="http://schemas.openxmlformats.org/officeDocument/2006/relationships/image"/><Relationship Id="rId11" Target="../media/image206.png" Type="http://schemas.openxmlformats.org/officeDocument/2006/relationships/image"/><Relationship Id="rId12" Target="../media/image207.png" Type="http://schemas.openxmlformats.org/officeDocument/2006/relationships/image"/><Relationship Id="rId13" Target="../media/image208.png" Type="http://schemas.openxmlformats.org/officeDocument/2006/relationships/image"/><Relationship Id="rId14" Target="../media/image82.png" Type="http://schemas.openxmlformats.org/officeDocument/2006/relationships/image"/><Relationship Id="rId15" Target="../media/image75.png" Type="http://schemas.openxmlformats.org/officeDocument/2006/relationships/image"/><Relationship Id="rId16" Target="../media/image74.png" Type="http://schemas.openxmlformats.org/officeDocument/2006/relationships/image"/><Relationship Id="rId17" Target="../media/image209.png" Type="http://schemas.openxmlformats.org/officeDocument/2006/relationships/image"/><Relationship Id="rId18" Target="../media/image210.png" Type="http://schemas.openxmlformats.org/officeDocument/2006/relationships/image"/><Relationship Id="rId19" Target="../media/image211.png" Type="http://schemas.openxmlformats.org/officeDocument/2006/relationships/image"/><Relationship Id="rId2" Target="../media/image199.png" Type="http://schemas.openxmlformats.org/officeDocument/2006/relationships/image"/><Relationship Id="rId20" Target="../media/image212.png" Type="http://schemas.openxmlformats.org/officeDocument/2006/relationships/image"/><Relationship Id="rId21" Target="../media/image213.png" Type="http://schemas.openxmlformats.org/officeDocument/2006/relationships/image"/><Relationship Id="rId22" Target="../media/image214.png" Type="http://schemas.openxmlformats.org/officeDocument/2006/relationships/image"/><Relationship Id="rId23" Target="../media/image215.png" Type="http://schemas.openxmlformats.org/officeDocument/2006/relationships/image"/><Relationship Id="rId24" Target="../media/image216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00.png" Type="http://schemas.openxmlformats.org/officeDocument/2006/relationships/image"/><Relationship Id="rId6" Target="../media/image201.png" Type="http://schemas.openxmlformats.org/officeDocument/2006/relationships/image"/><Relationship Id="rId7" Target="../media/image202.png" Type="http://schemas.openxmlformats.org/officeDocument/2006/relationships/image"/><Relationship Id="rId8" Target="../media/image203.png" Type="http://schemas.openxmlformats.org/officeDocument/2006/relationships/image"/><Relationship Id="rId9" Target="../media/image20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3.png" Type="http://schemas.openxmlformats.org/officeDocument/2006/relationships/image"/><Relationship Id="rId11" Target="../media/image224.png" Type="http://schemas.openxmlformats.org/officeDocument/2006/relationships/image"/><Relationship Id="rId12" Target="../media/image225.png" Type="http://schemas.openxmlformats.org/officeDocument/2006/relationships/image"/><Relationship Id="rId13" Target="../media/image226.png" Type="http://schemas.openxmlformats.org/officeDocument/2006/relationships/image"/><Relationship Id="rId14" Target="../media/image227.png" Type="http://schemas.openxmlformats.org/officeDocument/2006/relationships/image"/><Relationship Id="rId15" Target="../media/image75.png" Type="http://schemas.openxmlformats.org/officeDocument/2006/relationships/image"/><Relationship Id="rId16" Target="../media/image94.png" Type="http://schemas.openxmlformats.org/officeDocument/2006/relationships/image"/><Relationship Id="rId17" Target="../media/image82.png" Type="http://schemas.openxmlformats.org/officeDocument/2006/relationships/image"/><Relationship Id="rId18" Target="../media/image228.png" Type="http://schemas.openxmlformats.org/officeDocument/2006/relationships/image"/><Relationship Id="rId19" Target="../media/image83.png" Type="http://schemas.openxmlformats.org/officeDocument/2006/relationships/image"/><Relationship Id="rId2" Target="../media/image217.png" Type="http://schemas.openxmlformats.org/officeDocument/2006/relationships/image"/><Relationship Id="rId20" Target="../media/image229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18.png" Type="http://schemas.openxmlformats.org/officeDocument/2006/relationships/image"/><Relationship Id="rId6" Target="../media/image219.png" Type="http://schemas.openxmlformats.org/officeDocument/2006/relationships/image"/><Relationship Id="rId7" Target="../media/image220.png" Type="http://schemas.openxmlformats.org/officeDocument/2006/relationships/image"/><Relationship Id="rId8" Target="../media/image221.png" Type="http://schemas.openxmlformats.org/officeDocument/2006/relationships/image"/><Relationship Id="rId9" Target="../media/image2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5.png" Type="http://schemas.openxmlformats.org/officeDocument/2006/relationships/image"/><Relationship Id="rId11" Target="../media/image236.png" Type="http://schemas.openxmlformats.org/officeDocument/2006/relationships/image"/><Relationship Id="rId12" Target="../media/image237.png" Type="http://schemas.openxmlformats.org/officeDocument/2006/relationships/image"/><Relationship Id="rId13" Target="../media/image238.png" Type="http://schemas.openxmlformats.org/officeDocument/2006/relationships/image"/><Relationship Id="rId14" Target="../media/image239.png" Type="http://schemas.openxmlformats.org/officeDocument/2006/relationships/image"/><Relationship Id="rId15" Target="../media/image240.png" Type="http://schemas.openxmlformats.org/officeDocument/2006/relationships/image"/><Relationship Id="rId16" Target="../media/image241.png" Type="http://schemas.openxmlformats.org/officeDocument/2006/relationships/image"/><Relationship Id="rId17" Target="../media/image242.png" Type="http://schemas.openxmlformats.org/officeDocument/2006/relationships/image"/><Relationship Id="rId18" Target="../media/image243.png" Type="http://schemas.openxmlformats.org/officeDocument/2006/relationships/image"/><Relationship Id="rId19" Target="../media/image244.png" Type="http://schemas.openxmlformats.org/officeDocument/2006/relationships/image"/><Relationship Id="rId2" Target="../media/image35.png" Type="http://schemas.openxmlformats.org/officeDocument/2006/relationships/image"/><Relationship Id="rId20" Target="../media/image245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30.png" Type="http://schemas.openxmlformats.org/officeDocument/2006/relationships/image"/><Relationship Id="rId6" Target="../media/image231.png" Type="http://schemas.openxmlformats.org/officeDocument/2006/relationships/image"/><Relationship Id="rId7" Target="../media/image232.png" Type="http://schemas.openxmlformats.org/officeDocument/2006/relationships/image"/><Relationship Id="rId8" Target="../media/image233.png" Type="http://schemas.openxmlformats.org/officeDocument/2006/relationships/image"/><Relationship Id="rId9" Target="../media/image23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2.png" Type="http://schemas.openxmlformats.org/officeDocument/2006/relationships/image"/><Relationship Id="rId11" Target="../media/image253.png" Type="http://schemas.openxmlformats.org/officeDocument/2006/relationships/image"/><Relationship Id="rId12" Target="../media/image75.png" Type="http://schemas.openxmlformats.org/officeDocument/2006/relationships/image"/><Relationship Id="rId13" Target="../media/image82.png" Type="http://schemas.openxmlformats.org/officeDocument/2006/relationships/image"/><Relationship Id="rId14" Target="../media/image254.png" Type="http://schemas.openxmlformats.org/officeDocument/2006/relationships/image"/><Relationship Id="rId15" Target="../media/image255.png" Type="http://schemas.openxmlformats.org/officeDocument/2006/relationships/image"/><Relationship Id="rId16" Target="../media/image256.png" Type="http://schemas.openxmlformats.org/officeDocument/2006/relationships/image"/><Relationship Id="rId17" Target="../media/image257.png" Type="http://schemas.openxmlformats.org/officeDocument/2006/relationships/image"/><Relationship Id="rId18" Target="../media/image74.png" Type="http://schemas.openxmlformats.org/officeDocument/2006/relationships/image"/><Relationship Id="rId19" Target="../media/image83.png" Type="http://schemas.openxmlformats.org/officeDocument/2006/relationships/image"/><Relationship Id="rId2" Target="../media/image246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47.png" Type="http://schemas.openxmlformats.org/officeDocument/2006/relationships/image"/><Relationship Id="rId6" Target="../media/image248.png" Type="http://schemas.openxmlformats.org/officeDocument/2006/relationships/image"/><Relationship Id="rId7" Target="../media/image249.png" Type="http://schemas.openxmlformats.org/officeDocument/2006/relationships/image"/><Relationship Id="rId8" Target="../media/image250.png" Type="http://schemas.openxmlformats.org/officeDocument/2006/relationships/image"/><Relationship Id="rId9" Target="../media/image25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2.png" Type="http://schemas.openxmlformats.org/officeDocument/2006/relationships/image"/><Relationship Id="rId11" Target="../media/image263.png" Type="http://schemas.openxmlformats.org/officeDocument/2006/relationships/image"/><Relationship Id="rId12" Target="../media/image264.png" Type="http://schemas.openxmlformats.org/officeDocument/2006/relationships/image"/><Relationship Id="rId13" Target="../media/image75.png" Type="http://schemas.openxmlformats.org/officeDocument/2006/relationships/image"/><Relationship Id="rId14" Target="../media/image132.png" Type="http://schemas.openxmlformats.org/officeDocument/2006/relationships/image"/><Relationship Id="rId15" Target="../media/image265.png" Type="http://schemas.openxmlformats.org/officeDocument/2006/relationships/image"/><Relationship Id="rId16" Target="../media/image74.png" Type="http://schemas.openxmlformats.org/officeDocument/2006/relationships/image"/><Relationship Id="rId17" Target="../media/image82.png" Type="http://schemas.openxmlformats.org/officeDocument/2006/relationships/image"/><Relationship Id="rId18" Target="../media/image266.png" Type="http://schemas.openxmlformats.org/officeDocument/2006/relationships/image"/><Relationship Id="rId19" Target="../media/image94.png" Type="http://schemas.openxmlformats.org/officeDocument/2006/relationships/image"/><Relationship Id="rId2" Target="../media/image258.png" Type="http://schemas.openxmlformats.org/officeDocument/2006/relationships/image"/><Relationship Id="rId20" Target="../media/image267.png" Type="http://schemas.openxmlformats.org/officeDocument/2006/relationships/image"/><Relationship Id="rId21" Target="../media/image268.png" Type="http://schemas.openxmlformats.org/officeDocument/2006/relationships/image"/><Relationship Id="rId22" Target="../media/image269.png" Type="http://schemas.openxmlformats.org/officeDocument/2006/relationships/image"/><Relationship Id="rId23" Target="../media/image270.png" Type="http://schemas.openxmlformats.org/officeDocument/2006/relationships/image"/><Relationship Id="rId24" Target="../media/image271.png" Type="http://schemas.openxmlformats.org/officeDocument/2006/relationships/image"/><Relationship Id="rId25" Target="../media/image272.png" Type="http://schemas.openxmlformats.org/officeDocument/2006/relationships/image"/><Relationship Id="rId26" Target="../media/image273.png" Type="http://schemas.openxmlformats.org/officeDocument/2006/relationships/image"/><Relationship Id="rId27" Target="../media/image274.png" Type="http://schemas.openxmlformats.org/officeDocument/2006/relationships/image"/><Relationship Id="rId28" Target="../media/image275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00.png" Type="http://schemas.openxmlformats.org/officeDocument/2006/relationships/image"/><Relationship Id="rId6" Target="../media/image259.png" Type="http://schemas.openxmlformats.org/officeDocument/2006/relationships/image"/><Relationship Id="rId7" Target="../media/image231.png" Type="http://schemas.openxmlformats.org/officeDocument/2006/relationships/image"/><Relationship Id="rId8" Target="../media/image260.png" Type="http://schemas.openxmlformats.org/officeDocument/2006/relationships/image"/><Relationship Id="rId9" Target="../media/image26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0.png" Type="http://schemas.openxmlformats.org/officeDocument/2006/relationships/image"/><Relationship Id="rId11" Target="../media/image281.png" Type="http://schemas.openxmlformats.org/officeDocument/2006/relationships/image"/><Relationship Id="rId12" Target="../media/image282.png" Type="http://schemas.openxmlformats.org/officeDocument/2006/relationships/image"/><Relationship Id="rId13" Target="../media/image283.png" Type="http://schemas.openxmlformats.org/officeDocument/2006/relationships/image"/><Relationship Id="rId14" Target="../media/image284.png" Type="http://schemas.openxmlformats.org/officeDocument/2006/relationships/image"/><Relationship Id="rId15" Target="../media/image285.png" Type="http://schemas.openxmlformats.org/officeDocument/2006/relationships/image"/><Relationship Id="rId16" Target="../media/image139.png" Type="http://schemas.openxmlformats.org/officeDocument/2006/relationships/image"/><Relationship Id="rId17" Target="../media/image75.png" Type="http://schemas.openxmlformats.org/officeDocument/2006/relationships/image"/><Relationship Id="rId18" Target="../media/image94.png" Type="http://schemas.openxmlformats.org/officeDocument/2006/relationships/image"/><Relationship Id="rId19" Target="../media/image286.png" Type="http://schemas.openxmlformats.org/officeDocument/2006/relationships/image"/><Relationship Id="rId2" Target="../media/image276.png" Type="http://schemas.openxmlformats.org/officeDocument/2006/relationships/image"/><Relationship Id="rId20" Target="../media/image287.png" Type="http://schemas.openxmlformats.org/officeDocument/2006/relationships/image"/><Relationship Id="rId21" Target="../media/image288.png" Type="http://schemas.openxmlformats.org/officeDocument/2006/relationships/image"/><Relationship Id="rId22" Target="../media/image289.png" Type="http://schemas.openxmlformats.org/officeDocument/2006/relationships/image"/><Relationship Id="rId23" Target="../media/image290.png" Type="http://schemas.openxmlformats.org/officeDocument/2006/relationships/image"/><Relationship Id="rId24" Target="../media/image291.png" Type="http://schemas.openxmlformats.org/officeDocument/2006/relationships/image"/><Relationship Id="rId3" Target="../media/image2.png" Type="http://schemas.openxmlformats.org/officeDocument/2006/relationships/image"/><Relationship Id="rId4" Target="../media/image200.png" Type="http://schemas.openxmlformats.org/officeDocument/2006/relationships/image"/><Relationship Id="rId5" Target="../media/image3.png" Type="http://schemas.openxmlformats.org/officeDocument/2006/relationships/image"/><Relationship Id="rId6" Target="../media/image277.png" Type="http://schemas.openxmlformats.org/officeDocument/2006/relationships/image"/><Relationship Id="rId7" Target="../media/image231.png" Type="http://schemas.openxmlformats.org/officeDocument/2006/relationships/image"/><Relationship Id="rId8" Target="../media/image278.png" Type="http://schemas.openxmlformats.org/officeDocument/2006/relationships/image"/><Relationship Id="rId9" Target="../media/image27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79600" y="10337800"/>
            <a:ext cx="5461000" cy="762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79600" y="11226800"/>
            <a:ext cx="5461000" cy="76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79600" y="11226800"/>
            <a:ext cx="1905000" cy="762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79600" y="10337800"/>
            <a:ext cx="1905000" cy="762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79600" y="1765300"/>
            <a:ext cx="431800" cy="3556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879600" y="6781800"/>
            <a:ext cx="115570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이곳에 해당 자료에 관한 간단한 설명을 입력해 보세요.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79600" y="2921000"/>
            <a:ext cx="12420600" cy="3556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000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상품 실적 개선을 위한 </a:t>
            </a:r>
          </a:p>
          <a:p>
            <a:pPr algn="l" lvl="0">
              <a:lnSpc>
                <a:spcPct val="116199"/>
              </a:lnSpc>
            </a:pPr>
            <a:r>
              <a:rPr lang="en-US" sz="10000" b="false" i="false" u="none" strike="noStrike">
                <a:solidFill>
                  <a:srgbClr val="3AA0C9"/>
                </a:solidFill>
                <a:latin typeface="NanumSquare Bold"/>
                <a:ea typeface="NanumSquare Bold"/>
                <a:cs typeface="NanumSquare Bold"/>
              </a:rPr>
              <a:t>판매 활성화 방안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00300" y="1701800"/>
            <a:ext cx="28575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252525"/>
                </a:solidFill>
                <a:latin typeface="NanumSquare ExtraBold"/>
                <a:ea typeface="NanumSquare ExtraBold"/>
                <a:cs typeface="NanumSquare ExtraBold"/>
              </a:rPr>
              <a:t>MIRIFOOD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55800" y="10464800"/>
            <a:ext cx="1727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작성일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81200" y="11341100"/>
            <a:ext cx="1689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작성자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64000" y="10464800"/>
            <a:ext cx="3149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2080.00.00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64000" y="11341100"/>
            <a:ext cx="3149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사업기획팀 김미리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360400" y="2184400"/>
            <a:ext cx="7810500" cy="85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60400" y="2184400"/>
            <a:ext cx="1143000" cy="850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284700" y="3670300"/>
            <a:ext cx="32639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284700" y="4445000"/>
            <a:ext cx="32639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73100" y="5613400"/>
            <a:ext cx="7810500" cy="876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310100" y="7035800"/>
            <a:ext cx="32639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310100" y="7810500"/>
            <a:ext cx="32639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360400" y="9055100"/>
            <a:ext cx="7810500" cy="876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284700" y="10502900"/>
            <a:ext cx="32639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284700" y="11277600"/>
            <a:ext cx="3263900" cy="25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360400" y="5626100"/>
            <a:ext cx="1143000" cy="850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360400" y="9067800"/>
            <a:ext cx="1143000" cy="850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1409700" y="10960100"/>
            <a:ext cx="889000" cy="381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3360400" y="3441700"/>
            <a:ext cx="43815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highlight>
                  <a:srgbClr val="FFFFFF"/>
                </a:highlight>
                <a:latin typeface="NanumSquare Regular"/>
                <a:ea typeface="NanumSquare Regular"/>
                <a:cs typeface="NanumSquare Regular"/>
              </a:rPr>
              <a:t>상세 목차를 입력하세요.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71700" y="2324100"/>
            <a:ext cx="3721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현황 진단 및 분석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36600" y="2336800"/>
            <a:ext cx="10160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 spc="-300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281900" y="3416300"/>
            <a:ext cx="889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highlight>
                  <a:srgbClr val="FFFFFF"/>
                </a:highlight>
                <a:latin typeface="NanumSquare Regular"/>
                <a:ea typeface="NanumSquare Regular"/>
                <a:cs typeface="NanumSquare Regular"/>
              </a:rPr>
              <a:t>0p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60400" y="4140200"/>
            <a:ext cx="43688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highlight>
                  <a:srgbClr val="FFFFFF"/>
                </a:highlight>
                <a:latin typeface="NanumSquare Regular"/>
                <a:ea typeface="NanumSquare Regular"/>
                <a:cs typeface="NanumSquare Regular"/>
              </a:rPr>
              <a:t>상세 목차를 입력하세요.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281900" y="4127500"/>
            <a:ext cx="889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highlight>
                  <a:srgbClr val="FFFFFF"/>
                </a:highlight>
                <a:latin typeface="NanumSquare Regular"/>
                <a:ea typeface="NanumSquare Regular"/>
                <a:cs typeface="NanumSquare Regular"/>
              </a:rPr>
              <a:t>0p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60400" y="6807200"/>
            <a:ext cx="4356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highlight>
                  <a:srgbClr val="FFFFFF"/>
                </a:highlight>
                <a:latin typeface="NanumSquare Regular"/>
                <a:ea typeface="NanumSquare Regular"/>
                <a:cs typeface="NanumSquare Regular"/>
              </a:rPr>
              <a:t>상세 목차를 입력하세요.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281900" y="6781800"/>
            <a:ext cx="901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highlight>
                  <a:srgbClr val="FFFFFF"/>
                </a:highlight>
                <a:latin typeface="NanumSquare Regular"/>
                <a:ea typeface="NanumSquare Regular"/>
                <a:cs typeface="NanumSquare Regular"/>
              </a:rPr>
              <a:t>0p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60400" y="7518400"/>
            <a:ext cx="43688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highlight>
                  <a:srgbClr val="FFFFFF"/>
                </a:highlight>
                <a:latin typeface="NanumSquare Regular"/>
                <a:ea typeface="NanumSquare Regular"/>
                <a:cs typeface="NanumSquare Regular"/>
              </a:rPr>
              <a:t>상세 목차를 입력하세요.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307300" y="7493000"/>
            <a:ext cx="889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highlight>
                  <a:srgbClr val="FFFFFF"/>
                </a:highlight>
                <a:latin typeface="NanumSquare Regular"/>
                <a:ea typeface="NanumSquare Regular"/>
                <a:cs typeface="NanumSquare Regular"/>
              </a:rPr>
              <a:t>0p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60400" y="10274300"/>
            <a:ext cx="43815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highlight>
                  <a:srgbClr val="FFFFFF"/>
                </a:highlight>
                <a:latin typeface="NanumSquare Regular"/>
                <a:ea typeface="NanumSquare Regular"/>
                <a:cs typeface="NanumSquare Regular"/>
              </a:rPr>
              <a:t>상세 목차를 입력하세요.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871700" y="9169400"/>
            <a:ext cx="3721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실행 계획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281900" y="10248900"/>
            <a:ext cx="889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highlight>
                  <a:srgbClr val="FFFFFF"/>
                </a:highlight>
                <a:latin typeface="NanumSquare Regular"/>
                <a:ea typeface="NanumSquare Regular"/>
                <a:cs typeface="NanumSquare Regular"/>
              </a:rPr>
              <a:t>0p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281900" y="10960100"/>
            <a:ext cx="889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highlight>
                  <a:srgbClr val="FFFFFF"/>
                </a:highlight>
                <a:latin typeface="NanumSquare Regular"/>
                <a:ea typeface="NanumSquare Regular"/>
                <a:cs typeface="NanumSquare Regular"/>
              </a:rPr>
              <a:t>0p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60400" y="10985500"/>
            <a:ext cx="43688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highlight>
                  <a:srgbClr val="FFFFFF"/>
                </a:highlight>
                <a:latin typeface="NanumSquare Regular"/>
                <a:ea typeface="NanumSquare Regular"/>
                <a:cs typeface="NanumSquare Regular"/>
              </a:rPr>
              <a:t>상세 목차를 입력하세요.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884400" y="5753100"/>
            <a:ext cx="3721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활성화 전략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36600" y="5753100"/>
            <a:ext cx="10160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 spc="-100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436600" y="9169400"/>
            <a:ext cx="10160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 spc="-100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03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08200" y="10452100"/>
            <a:ext cx="6692900" cy="1066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목차의 전체 구조나 구성 방식을</a:t>
            </a:r>
          </a:p>
          <a:p>
            <a:pPr algn="l" lvl="0">
              <a:lnSpc>
                <a:spcPct val="1203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한 문장으로 소개해 주세요.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79600" y="1955800"/>
            <a:ext cx="2336800" cy="153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8666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목차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79600" y="3568700"/>
            <a:ext cx="4406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3AA0C9"/>
                </a:solidFill>
                <a:latin typeface="NanumSquare Bold"/>
                <a:ea typeface="NanumSquare Bold"/>
                <a:cs typeface="NanumSquare Bold"/>
              </a:rPr>
              <a:t> Table of Contents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3700" y="1524000"/>
            <a:ext cx="21069300" cy="149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1524000"/>
            <a:ext cx="37719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76400" y="3771900"/>
            <a:ext cx="6604000" cy="3556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890000" y="3771900"/>
            <a:ext cx="6604000" cy="3556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51000" y="8547100"/>
            <a:ext cx="21069300" cy="3543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06600" y="10401300"/>
            <a:ext cx="10109200" cy="139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06600" y="8864600"/>
            <a:ext cx="10109200" cy="1397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293600" y="10401300"/>
            <a:ext cx="10109200" cy="1397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293600" y="8864600"/>
            <a:ext cx="10109200" cy="1397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141700" y="3771900"/>
            <a:ext cx="6604000" cy="355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495800" y="4114800"/>
            <a:ext cx="952500" cy="952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722100" y="4114800"/>
            <a:ext cx="952500" cy="952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001500" y="4305300"/>
            <a:ext cx="381000" cy="571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648200" y="4279900"/>
            <a:ext cx="635000" cy="635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8973800" y="4114800"/>
            <a:ext cx="952500" cy="952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151600" y="4305300"/>
            <a:ext cx="584200" cy="571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10800000">
            <a:off x="9182100" y="7531100"/>
            <a:ext cx="6019800" cy="8255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6057900" y="1943100"/>
            <a:ext cx="16802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유통 확장 기반 매출 성장 전략을 요약해 보세요.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12900" y="1981200"/>
            <a:ext cx="3886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내용 요약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11400" y="6007100"/>
            <a:ext cx="53213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해당 영역의 핵심 내용을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작성해 보세요.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72600" y="6007100"/>
            <a:ext cx="56388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해당 영역의 핵심 내용을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작성해 보세요.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47900" y="9271000"/>
            <a:ext cx="9639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[시설] 등 유통망 확대로 접근성 강화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34900" y="9271000"/>
            <a:ext cx="9639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 구독 포인트 프로그램으로 재구매율 증대 기여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47900" y="10795000"/>
            <a:ext cx="9639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SNS 인플루언서 마케팅으로 인지도 확보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34900" y="10795000"/>
            <a:ext cx="9639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주요 방안 상세 내용을 간단히 요약해 보세요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98700" y="5283200"/>
            <a:ext cx="53594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부진 원인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59900" y="5283200"/>
            <a:ext cx="5651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활성화 방안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433800" y="6007100"/>
            <a:ext cx="60198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해당 영역의 핵심 내용을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작성해 보세요.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624300" y="5283200"/>
            <a:ext cx="5651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성과 예측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3700" y="1524000"/>
            <a:ext cx="21069300" cy="149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1524000"/>
            <a:ext cx="37719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00000" y="9791700"/>
            <a:ext cx="10007600" cy="2298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00000" y="3771900"/>
            <a:ext cx="10007600" cy="2197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4490700" y="4851400"/>
            <a:ext cx="13843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700000" y="6235700"/>
            <a:ext cx="10007600" cy="2197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4490700" y="7315200"/>
            <a:ext cx="13843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71600" y="4305300"/>
            <a:ext cx="10579100" cy="8051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746500" y="5219700"/>
            <a:ext cx="825500" cy="825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768600" y="5219700"/>
            <a:ext cx="825500" cy="825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348200" y="5740400"/>
            <a:ext cx="698500" cy="698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0800000">
            <a:off x="14173200" y="8648700"/>
            <a:ext cx="7048500" cy="9144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6057900" y="1943100"/>
            <a:ext cx="16802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모색 배경의 핵심을 요약해 보세요. 기회나 문제를 함께 제시해도 좋습니다.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12900" y="1981200"/>
            <a:ext cx="3886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기획 배경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8300" y="3708400"/>
            <a:ext cx="104394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| 분기별 목표 및 판매량 격차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93700" y="10350500"/>
            <a:ext cx="92202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런칭 반응은 긍정적이었으나 인지도 부족과</a:t>
            </a:r>
          </a:p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재구매 유도 전략 미흡으로 판매가 정체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798800" y="4940300"/>
            <a:ext cx="6426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판매 부진의 주요 원인을 입력해 보세요.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798800" y="4279900"/>
            <a:ext cx="5003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3AA0C9"/>
                </a:solidFill>
                <a:latin typeface="NanumSquare Bold"/>
                <a:ea typeface="NanumSquare Bold"/>
                <a:cs typeface="NanumSquare Bold"/>
              </a:rPr>
              <a:t>재구매율 저조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35000" y="4572000"/>
            <a:ext cx="1320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요인 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798800" y="7378700"/>
            <a:ext cx="6426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판매 부진의 주요 원인을 입력해 보세요.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798800" y="6718300"/>
            <a:ext cx="5003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3AA0C9"/>
                </a:solidFill>
                <a:latin typeface="NanumSquare Bold"/>
                <a:ea typeface="NanumSquare Bold"/>
                <a:cs typeface="NanumSquare Bold"/>
              </a:rPr>
              <a:t>낮은 브랜드 인지도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35000" y="7035800"/>
            <a:ext cx="1320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요인 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683000" y="5410200"/>
            <a:ext cx="9652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목표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92400" y="5410200"/>
            <a:ext cx="9652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현재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3700" y="1524000"/>
            <a:ext cx="21069300" cy="149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1524000"/>
            <a:ext cx="37719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9906000"/>
            <a:ext cx="21056600" cy="2184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38300" y="4597400"/>
            <a:ext cx="10248900" cy="4737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 rot="0">
            <a:off x="3111500" y="6210300"/>
            <a:ext cx="2616200" cy="3098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108700" y="6756400"/>
            <a:ext cx="2616200" cy="255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185400" y="5930900"/>
            <a:ext cx="1193800" cy="1193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477500" y="81788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477500" y="8674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446000" y="4597400"/>
            <a:ext cx="10248900" cy="4737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>
            <a:alphaModFix amt="80000"/>
          </a:blip>
          <a:stretch>
            <a:fillRect/>
          </a:stretch>
        </p:blipFill>
        <p:spPr>
          <a:xfrm rot="0">
            <a:off x="13893800" y="6210300"/>
            <a:ext cx="2616200" cy="3098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891000" y="7277100"/>
            <a:ext cx="2616200" cy="2032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0980400" y="5930900"/>
            <a:ext cx="1193800" cy="1193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1259800" y="8178800"/>
            <a:ext cx="139700" cy="139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1259800" y="8674100"/>
            <a:ext cx="1397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659999">
            <a:off x="4368800" y="6502400"/>
            <a:ext cx="3060700" cy="25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>
            <a:alphaModFix amt="50000"/>
          </a:blip>
          <a:stretch>
            <a:fillRect/>
          </a:stretch>
        </p:blipFill>
        <p:spPr>
          <a:xfrm rot="0">
            <a:off x="4191000" y="6032500"/>
            <a:ext cx="444500" cy="444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4292600" y="6121400"/>
            <a:ext cx="254000" cy="254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>
            <a:alphaModFix amt="50000"/>
          </a:blip>
          <a:stretch>
            <a:fillRect/>
          </a:stretch>
        </p:blipFill>
        <p:spPr>
          <a:xfrm rot="0">
            <a:off x="7200900" y="6616700"/>
            <a:ext cx="444500" cy="444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7289800" y="6705600"/>
            <a:ext cx="254000" cy="254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1260000">
            <a:off x="15227300" y="6794500"/>
            <a:ext cx="3111500" cy="25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>
            <a:alphaModFix amt="50000"/>
          </a:blip>
          <a:stretch>
            <a:fillRect/>
          </a:stretch>
        </p:blipFill>
        <p:spPr>
          <a:xfrm rot="0">
            <a:off x="14986000" y="6045200"/>
            <a:ext cx="444500" cy="4445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5074900" y="6134100"/>
            <a:ext cx="254000" cy="254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7">
            <a:alphaModFix amt="50000"/>
          </a:blip>
          <a:stretch>
            <a:fillRect/>
          </a:stretch>
        </p:blipFill>
        <p:spPr>
          <a:xfrm rot="0">
            <a:off x="17983200" y="7124700"/>
            <a:ext cx="444500" cy="4445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072100" y="7213600"/>
            <a:ext cx="254000" cy="254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2159000" y="5626100"/>
            <a:ext cx="9220200" cy="25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2954000" y="5626100"/>
            <a:ext cx="9220200" cy="25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6540500" y="10591800"/>
            <a:ext cx="139700" cy="139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6540500" y="11226800"/>
            <a:ext cx="139700" cy="1397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6057900" y="1943100"/>
            <a:ext cx="16802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판매 현황의 핵심 인사이트를 요약해 보세요.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12900" y="1981200"/>
            <a:ext cx="3886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채널별 판매 현황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883400" y="10439400"/>
            <a:ext cx="142748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위 판매 현황 그래프를 분석하여 현재 판매 구조에서 나타나는 주요 문제점을 도출해 보세요.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810000" y="6667500"/>
            <a:ext cx="1219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3AA0C9"/>
                </a:solidFill>
                <a:latin typeface="NanumSquare Bold"/>
                <a:ea typeface="NanumSquare Bold"/>
                <a:cs typeface="NanumSquare Bold"/>
              </a:rPr>
              <a:t>XX개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07200" y="7213600"/>
            <a:ext cx="1219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XX개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34600" y="6172200"/>
            <a:ext cx="1295400" cy="8382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300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1</a:t>
            </a:r>
            <a:r>
              <a:rPr lang="en-US" sz="2933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5%</a:t>
            </a:r>
          </a:p>
          <a:p>
            <a:pPr algn="ctr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▼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410200" y="4826000"/>
            <a:ext cx="26924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판매 채널 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731500" y="8064500"/>
            <a:ext cx="9779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9" b="false" i="false" u="none" strike="noStrike">
                <a:solidFill>
                  <a:srgbClr val="3AA0C9"/>
                </a:solidFill>
                <a:latin typeface="NanumSquare Regular"/>
                <a:ea typeface="NanumSquare Regular"/>
                <a:cs typeface="NanumSquare Regular"/>
              </a:rPr>
              <a:t>목표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731500" y="8559800"/>
            <a:ext cx="9779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실적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592300" y="6705600"/>
            <a:ext cx="1219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3AA0C9"/>
                </a:solidFill>
                <a:latin typeface="NanumSquare Bold"/>
                <a:ea typeface="NanumSquare Bold"/>
                <a:cs typeface="NanumSquare Bold"/>
              </a:rPr>
              <a:t>XX개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602200" y="7797800"/>
            <a:ext cx="1219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XX개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0929600" y="6172200"/>
            <a:ext cx="1295400" cy="8382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2</a:t>
            </a:r>
            <a:r>
              <a:rPr lang="en-US" sz="2933" b="false" i="false" u="none" strike="noStrike" spc="-200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0</a:t>
            </a:r>
            <a:r>
              <a:rPr lang="en-US" sz="2933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%</a:t>
            </a:r>
          </a:p>
          <a:p>
            <a:pPr algn="ctr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▼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217900" y="4826000"/>
            <a:ext cx="26924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판매 채널 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1539200" y="8064500"/>
            <a:ext cx="9779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9" b="false" i="false" u="none" strike="noStrike">
                <a:solidFill>
                  <a:srgbClr val="3AA0C9"/>
                </a:solidFill>
                <a:latin typeface="NanumSquare Regular"/>
                <a:ea typeface="NanumSquare Regular"/>
                <a:cs typeface="NanumSquare Regular"/>
              </a:rPr>
              <a:t>목표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1526500" y="8559800"/>
            <a:ext cx="9779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실적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806700" y="107061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핵심 이슈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883400" y="11036300"/>
            <a:ext cx="142748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문제 제시 시에는 구체적인 제품명과 관련 수치를 함께 언급하여 설득력을 높여 보세요.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38300" y="3708400"/>
            <a:ext cx="3975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| 채널별 판매량 비교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3700" y="1524000"/>
            <a:ext cx="21069300" cy="149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1524000"/>
            <a:ext cx="37719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399999">
            <a:off x="9093200" y="10960100"/>
            <a:ext cx="8509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4427200" y="10960100"/>
            <a:ext cx="8382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38300" y="5105400"/>
            <a:ext cx="5105400" cy="579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06600" y="57277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06600" y="6388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959600" y="5105400"/>
            <a:ext cx="5105400" cy="5791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315200" y="57277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315200" y="7429500"/>
            <a:ext cx="1397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293600" y="5105400"/>
            <a:ext cx="5105400" cy="5791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627600" y="5105400"/>
            <a:ext cx="5105400" cy="5791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38300" y="3797300"/>
            <a:ext cx="5105400" cy="1143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959600" y="3797300"/>
            <a:ext cx="5105400" cy="1143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293600" y="3797300"/>
            <a:ext cx="5105400" cy="1143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7640300" y="3797300"/>
            <a:ext cx="5105400" cy="1143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663700" y="3797300"/>
            <a:ext cx="1244600" cy="1143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6972300" y="3797300"/>
            <a:ext cx="1244600" cy="1143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2306300" y="3797300"/>
            <a:ext cx="1244600" cy="1143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7653000" y="3797300"/>
            <a:ext cx="1244600" cy="1143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2649200" y="5727700"/>
            <a:ext cx="139700" cy="139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649200" y="7429500"/>
            <a:ext cx="139700" cy="139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995900" y="5727700"/>
            <a:ext cx="139700" cy="1397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995900" y="7429500"/>
            <a:ext cx="139700" cy="139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10800000">
            <a:off x="14770100" y="10807700"/>
            <a:ext cx="190500" cy="190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10800000">
            <a:off x="9423400" y="10807700"/>
            <a:ext cx="190500" cy="1905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638300" y="11315700"/>
            <a:ext cx="21069300" cy="7620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892300" y="7785100"/>
            <a:ext cx="4597400" cy="27940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6057900" y="1943100"/>
            <a:ext cx="16802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병목 지점, 이탈 구간 등 고객 구매 여정에서 발견한 인사이트를 요약해 보세요.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00200" y="1981200"/>
            <a:ext cx="3898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고객 행동 분석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349500" y="5575300"/>
            <a:ext cx="45593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SNS를 통해 제품 인지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349500" y="6235700"/>
            <a:ext cx="4559300" cy="1028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평균 노출 3.2회 후</a:t>
            </a:r>
          </a:p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관심 단계 진입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670800" y="5575300"/>
            <a:ext cx="4559300" cy="15240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해당 단계에서 고객이</a:t>
            </a:r>
          </a:p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하는 행동, 사용 채널, 주요</a:t>
            </a:r>
          </a:p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지표를 입력해 보세요.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670800" y="7277100"/>
            <a:ext cx="4559300" cy="1028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 병목이 발생하는 구간은</a:t>
            </a:r>
          </a:p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명시적으로 표시해 보세요.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302000" y="4076700"/>
            <a:ext cx="3568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인지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10600" y="4076700"/>
            <a:ext cx="3594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관심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944600" y="4076700"/>
            <a:ext cx="3594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비교 / 검토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9291300" y="4076700"/>
            <a:ext cx="35814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구매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00200" y="4076700"/>
            <a:ext cx="1384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 spc="-300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01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921500" y="4076700"/>
            <a:ext cx="1384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02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255500" y="4076700"/>
            <a:ext cx="1384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03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602200" y="4076700"/>
            <a:ext cx="1384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04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992100" y="5575300"/>
            <a:ext cx="4559300" cy="15240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해당 단계에서 고객이</a:t>
            </a:r>
          </a:p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하는 행동, 사용 채널, 주요</a:t>
            </a:r>
          </a:p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지표를 입력해 보세요.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992100" y="7277100"/>
            <a:ext cx="4559300" cy="1028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 병목이 발생하는 구간은</a:t>
            </a:r>
          </a:p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명시적으로 표시해 보세요.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8338800" y="5575300"/>
            <a:ext cx="4559300" cy="15240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해당 단계에서 고객이</a:t>
            </a:r>
          </a:p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하는 행동, 사용 채널, 주요</a:t>
            </a:r>
          </a:p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지표를 입력해 보세요.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8338800" y="7277100"/>
            <a:ext cx="4559300" cy="1028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 병목이 발생하는 구간은</a:t>
            </a:r>
          </a:p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명시적으로 표시해 보세요.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006600" y="11442700"/>
            <a:ext cx="20370800" cy="520700"/>
          </a:xfrm>
          <a:prstGeom prst="rect">
            <a:avLst/>
          </a:prstGeom>
        </p:spPr>
        <p:txBody>
          <a:bodyPr anchor="t" rtlCol="false" lIns="0" tIns="18627" rIns="0" bIns="0"/>
          <a:lstStyle/>
          <a:p>
            <a:pPr algn="ctr" lvl="0">
              <a:lnSpc>
                <a:spcPct val="1078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위 지점에서 발견한 핵심 문제점이나 개선 기회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3700" y="1524000"/>
            <a:ext cx="21069300" cy="149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1524000"/>
            <a:ext cx="37719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024100" y="3784600"/>
            <a:ext cx="7696200" cy="8280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402300" y="6146800"/>
            <a:ext cx="952500" cy="95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580100" y="6311900"/>
            <a:ext cx="584200" cy="584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 rot="0">
            <a:off x="6921500" y="7175500"/>
            <a:ext cx="9296400" cy="152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38300" y="3784600"/>
            <a:ext cx="7696200" cy="8280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93900" y="4102100"/>
            <a:ext cx="3340100" cy="2374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93900" y="6731000"/>
            <a:ext cx="3340100" cy="2374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93900" y="9347200"/>
            <a:ext cx="3340100" cy="2374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2336800" y="7708900"/>
            <a:ext cx="2667000" cy="25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2336800" y="10299700"/>
            <a:ext cx="2667000" cy="25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2336800" y="5054600"/>
            <a:ext cx="2667000" cy="25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575300" y="4114800"/>
            <a:ext cx="3340100" cy="2374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575300" y="6743700"/>
            <a:ext cx="3340100" cy="2374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575300" y="9359900"/>
            <a:ext cx="3340100" cy="2374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5918200" y="7721600"/>
            <a:ext cx="2667000" cy="25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5918200" y="10312400"/>
            <a:ext cx="2667000" cy="25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5918200" y="5067300"/>
            <a:ext cx="2667000" cy="25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>
            <a:alphaModFix amt="50000"/>
          </a:blip>
          <a:stretch>
            <a:fillRect/>
          </a:stretch>
        </p:blipFill>
        <p:spPr>
          <a:xfrm rot="0">
            <a:off x="10071100" y="5829300"/>
            <a:ext cx="4216400" cy="4216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>
            <a:alphaModFix amt="32000"/>
          </a:blip>
          <a:stretch>
            <a:fillRect/>
          </a:stretch>
        </p:blipFill>
        <p:spPr>
          <a:xfrm rot="0">
            <a:off x="10325100" y="6070600"/>
            <a:ext cx="3721100" cy="3721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579100" y="6337300"/>
            <a:ext cx="3200400" cy="32004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6057900" y="1943100"/>
            <a:ext cx="16802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앞선 분석을 통해 도출한 핵심 문제들을 간단하게 요약해 보세요.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00200" y="1981200"/>
            <a:ext cx="3898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문제 요약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421100" y="7378700"/>
            <a:ext cx="4902200" cy="177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전체 문제를 통합한</a:t>
            </a:r>
          </a:p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핵심 이슈를</a:t>
            </a:r>
          </a:p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적어보세요.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133600" y="5181600"/>
            <a:ext cx="30607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해당 문제의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핵심 내용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65400" y="4305300"/>
            <a:ext cx="2209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가격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33600" y="7848600"/>
            <a:ext cx="30607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해당 문제의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핵심 내용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65400" y="6934200"/>
            <a:ext cx="2209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유통망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33600" y="10426700"/>
            <a:ext cx="30607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해당 문제의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핵심 내용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65400" y="9537700"/>
            <a:ext cx="2209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인지도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715000" y="5194300"/>
            <a:ext cx="30607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해당 문제의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핵심 내용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146800" y="4318000"/>
            <a:ext cx="2209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인지도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715000" y="7861300"/>
            <a:ext cx="30607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해당 문제의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핵심 내용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146800" y="6946900"/>
            <a:ext cx="2209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인지도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715000" y="10439400"/>
            <a:ext cx="30607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해당 문제의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핵심 내용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146800" y="9550400"/>
            <a:ext cx="2209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인지도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312400" y="6769100"/>
            <a:ext cx="3746500" cy="237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고객 접점</a:t>
            </a:r>
          </a:p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부족과</a:t>
            </a:r>
          </a:p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포지셔닝</a:t>
            </a:r>
          </a:p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모호함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3700" y="1524000"/>
            <a:ext cx="21069300" cy="149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1524000"/>
            <a:ext cx="37719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51000" y="4876800"/>
            <a:ext cx="6286500" cy="7188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697200" y="4876800"/>
            <a:ext cx="7023100" cy="2273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697200" y="7327900"/>
            <a:ext cx="7023100" cy="2273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709900" y="9791700"/>
            <a:ext cx="7023100" cy="2273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080500" y="4876800"/>
            <a:ext cx="6426200" cy="2273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080500" y="7327900"/>
            <a:ext cx="6426200" cy="2273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080500" y="9791700"/>
            <a:ext cx="6426200" cy="2273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51000" y="3797300"/>
            <a:ext cx="6286500" cy="914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093200" y="3797300"/>
            <a:ext cx="6413500" cy="914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5697200" y="3797300"/>
            <a:ext cx="7023100" cy="914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5969000" y="8128000"/>
            <a:ext cx="5080000" cy="6985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6057900" y="1943100"/>
            <a:ext cx="16802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판매 활성화를 통해 달성하고자 하는 핵심 목표를 요약해 보세요.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00200" y="1981200"/>
            <a:ext cx="3898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판매 활성화 목표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7500" y="7632700"/>
            <a:ext cx="6388100" cy="177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향후 6개월 내</a:t>
            </a:r>
          </a:p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판매 정상화</a:t>
            </a:r>
          </a:p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및 손익분기 달성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46400" y="5410200"/>
            <a:ext cx="70104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3AA0C9"/>
                </a:solidFill>
                <a:latin typeface="NanumSquare Bold"/>
                <a:ea typeface="NanumSquare Bold"/>
                <a:cs typeface="NanumSquare Bold"/>
              </a:rPr>
              <a:t>현재 상태 → 목표 상태 입력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646400" y="6045200"/>
            <a:ext cx="70104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목표 도달을 위해 실행할 액션들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646400" y="7899400"/>
            <a:ext cx="70104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3AA0C9"/>
                </a:solidFill>
                <a:latin typeface="NanumSquare Bold"/>
                <a:ea typeface="NanumSquare Bold"/>
                <a:cs typeface="NanumSquare Bold"/>
              </a:rPr>
              <a:t>현재 상태 → 목표 상태 입력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646400" y="8521700"/>
            <a:ext cx="70104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목표 도달을 위해 실행할 액션들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659100" y="10312400"/>
            <a:ext cx="70104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3AA0C9"/>
                </a:solidFill>
                <a:latin typeface="NanumSquare Bold"/>
                <a:ea typeface="NanumSquare Bold"/>
                <a:cs typeface="NanumSquare Bold"/>
              </a:rPr>
              <a:t>현재 상태 → 목표 상태 입력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659100" y="10947400"/>
            <a:ext cx="70104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목표 도달을 위해 실행할 액션들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56900" y="5753100"/>
            <a:ext cx="3060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판매량 도달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56900" y="8204200"/>
            <a:ext cx="3060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판매량 도달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56900" y="10668000"/>
            <a:ext cx="3060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판매량 도달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695700" y="3962400"/>
            <a:ext cx="2209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추진 목표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88700" y="3962400"/>
            <a:ext cx="2209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세부 목표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046700" y="3962400"/>
            <a:ext cx="2209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상세 내용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3700" y="1524000"/>
            <a:ext cx="21069300" cy="149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1524000"/>
            <a:ext cx="37719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3784600"/>
            <a:ext cx="10375900" cy="396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70100" y="4229100"/>
            <a:ext cx="2946400" cy="939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184400" y="56769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84400" y="63119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184400" y="69469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331700" y="3784600"/>
            <a:ext cx="10375900" cy="3962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839700" y="4229100"/>
            <a:ext cx="2946400" cy="939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839700" y="5676900"/>
            <a:ext cx="1397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839700" y="6311900"/>
            <a:ext cx="139700" cy="13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839700" y="6946900"/>
            <a:ext cx="139700" cy="139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76400" y="8102600"/>
            <a:ext cx="10375900" cy="3962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070100" y="8559800"/>
            <a:ext cx="2946400" cy="939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97100" y="10007600"/>
            <a:ext cx="1397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197100" y="10629900"/>
            <a:ext cx="139700" cy="139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197100" y="11277600"/>
            <a:ext cx="139700" cy="139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331700" y="8102600"/>
            <a:ext cx="10375900" cy="3962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839700" y="8559800"/>
            <a:ext cx="2946400" cy="939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839700" y="10007600"/>
            <a:ext cx="139700" cy="139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839700" y="10629900"/>
            <a:ext cx="139700" cy="139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839700" y="11277600"/>
            <a:ext cx="139700" cy="139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438400" y="4445000"/>
            <a:ext cx="635000" cy="469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476500" y="8775700"/>
            <a:ext cx="571500" cy="4699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296900" y="8763000"/>
            <a:ext cx="571500" cy="495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3195300" y="4394200"/>
            <a:ext cx="762000" cy="5461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6057900" y="1943100"/>
            <a:ext cx="16802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세부 목표들을 어떤 관점에서 구성했는지 간단하게 요약해 보세요.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00200" y="1981200"/>
            <a:ext cx="3898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판매 활성화 목표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334000" y="4406900"/>
            <a:ext cx="49530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월 매출 2.4배 증가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921000" y="4406900"/>
            <a:ext cx="2171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매출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14600" y="5524500"/>
            <a:ext cx="96393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구체적인 수치 목표를 명확히 설정하여 실행의 방향성 입력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514600" y="6159500"/>
            <a:ext cx="96393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목표를 위한 구체적인 실행 방법과 전제 조건을 함께 명시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514600" y="6794500"/>
            <a:ext cx="96393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채널 및 제품별 전략을 구체화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103600" y="4406900"/>
            <a:ext cx="49530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한 문장 목표 설명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69900" y="5524500"/>
            <a:ext cx="96393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구체적인 수치 목표를 명확히 설정하여 실행의 방향성 입력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69900" y="6159500"/>
            <a:ext cx="96393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목표를 위한 구체적인 실행 방법과 전제 조건을 함께 명시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169900" y="6794500"/>
            <a:ext cx="96393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채널 및 제품별 전략을 구체화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334000" y="8737600"/>
            <a:ext cx="49530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한 문장 목표 설명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514600" y="9855200"/>
            <a:ext cx="96393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구체적인 수치 목표를 명확히 설정하여 실행의 방향성 입력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514600" y="10477500"/>
            <a:ext cx="96393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목표를 위한 구체적인 실행 방법과 전제 조건을 함께 명시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514600" y="11125200"/>
            <a:ext cx="96393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채널 및 제품별 전략을 구체화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116300" y="8737600"/>
            <a:ext cx="49530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한 문장 목표 설명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182600" y="9855200"/>
            <a:ext cx="96393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구체적인 수치 목표를 명확히 설정하여 실행의 방향성 입력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182600" y="10477500"/>
            <a:ext cx="96393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목표를 위한 구체적인 실행 방법과 전제 조건을 함께 명시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182600" y="11125200"/>
            <a:ext cx="96393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채널 및 제품별 전략을 구체화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677900" y="4406900"/>
            <a:ext cx="2171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고객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921000" y="8737600"/>
            <a:ext cx="2171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키워드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677900" y="8737600"/>
            <a:ext cx="2171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키워드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3700" y="1524000"/>
            <a:ext cx="21069300" cy="149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1524000"/>
            <a:ext cx="37719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9067800"/>
            <a:ext cx="1397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38300" y="9829800"/>
            <a:ext cx="103124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63700" y="103886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1000" y="11150600"/>
            <a:ext cx="103124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63700" y="116967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446000" y="4572000"/>
            <a:ext cx="10287000" cy="394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928600" y="4635500"/>
            <a:ext cx="9334500" cy="3873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446000" y="8801100"/>
            <a:ext cx="10287000" cy="1498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446000" y="10579100"/>
            <a:ext cx="10287000" cy="1498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638300" y="4572000"/>
            <a:ext cx="4978400" cy="3937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896100" y="4572000"/>
            <a:ext cx="4978400" cy="39370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6057900" y="1943100"/>
            <a:ext cx="16802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시장의 성장세, 주요 트렌드 또는 환경 변화를 간단하게 요약해 보세요.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00200" y="1981200"/>
            <a:ext cx="3898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한 문장 목표 설명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3700" y="3759200"/>
            <a:ext cx="10401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| 주요 트렌드</a:t>
            </a:r>
            <a:b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</a:br>
          </a:p>
        </p:txBody>
      </p:sp>
      <p:sp>
        <p:nvSpPr>
          <p:cNvPr name="TextBox 21" id="21"/>
          <p:cNvSpPr txBox="true"/>
          <p:nvPr/>
        </p:nvSpPr>
        <p:spPr>
          <a:xfrm rot="0">
            <a:off x="2006600" y="8915400"/>
            <a:ext cx="99568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1인 가구 증가에 따른 [상품] 수요 증가 추세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19300" y="10236200"/>
            <a:ext cx="99568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최근 소비자 중심의 주요 소비 트렌드 변화 확대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19300" y="11544300"/>
            <a:ext cx="99568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타겟 고객층의 가치관 및 소비 기준 변화 흐름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46000" y="3759200"/>
            <a:ext cx="10426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| [상품] 시장 규모 및 성장률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74600" y="9042400"/>
            <a:ext cx="9829800" cy="1028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ctr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시장 성장률, 주요 성장 동인, 향후 전망 등을</a:t>
            </a:r>
          </a:p>
          <a:p>
            <a:pPr algn="ctr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2-3문장으로 입력하세요.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74600" y="10807700"/>
            <a:ext cx="9829800" cy="1028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ctr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우리 제품/서비스에 특히 유리한 시장 기회나 환경 변화를</a:t>
            </a:r>
          </a:p>
          <a:p>
            <a:pPr algn="ctr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2-3문장으로 입력하세요.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3700" y="1524000"/>
            <a:ext cx="21069300" cy="149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1524000"/>
            <a:ext cx="37719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0" y="8991600"/>
            <a:ext cx="10287000" cy="3086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-546100" y="8115300"/>
            <a:ext cx="64516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667000" y="11328400"/>
            <a:ext cx="85852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67000" y="8115300"/>
            <a:ext cx="85852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3733800" y="8115300"/>
            <a:ext cx="64516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683000" y="5575300"/>
            <a:ext cx="1079500" cy="863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045700" y="4902200"/>
            <a:ext cx="1079500" cy="863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524500" y="6692900"/>
            <a:ext cx="1079500" cy="863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556500" y="9715500"/>
            <a:ext cx="1079500" cy="863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280400" y="7696200"/>
            <a:ext cx="1765300" cy="863600"/>
          </a:xfrm>
          <a:prstGeom prst="rect">
            <a:avLst/>
          </a:prstGeom>
        </p:spPr>
      </p:pic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12446000" y="4686300"/>
          <a:ext cx="10261600" cy="4013200"/>
        </p:xfrm>
        <a:graphic>
          <a:graphicData uri="http://schemas.openxmlformats.org/drawingml/2006/table">
            <a:tbl>
              <a:tblPr/>
              <a:tblGrid>
                <a:gridCol w="3419022"/>
                <a:gridCol w="3419022"/>
                <a:gridCol w="3419022"/>
              </a:tblGrid>
              <a:tr h="80267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252525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순위</a:t>
                      </a:r>
                      <a:endParaRPr lang="en-US" sz="1100"/>
                    </a:p>
                  </a:txBody>
                  <a:tcPr anchor="ctr" marL="25400" marT="70357" marR="25400" marB="7035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4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252525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기업명</a:t>
                      </a:r>
                      <a:endParaRPr lang="en-US" sz="1100"/>
                    </a:p>
                  </a:txBody>
                  <a:tcPr anchor="ctr" marL="25400" marT="70357" marR="25400" marB="7035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4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252525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점유율</a:t>
                      </a:r>
                      <a:endParaRPr lang="en-US" sz="1100"/>
                    </a:p>
                  </a:txBody>
                  <a:tcPr anchor="ctr" marL="25400" marT="70357" marR="25400" marB="7035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4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</a:tr>
              <a:tr h="80267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252525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1</a:t>
                      </a:r>
                      <a:endParaRPr lang="en-US" sz="1100"/>
                    </a:p>
                  </a:txBody>
                  <a:tcPr anchor="ctr" marL="25400" marT="70357" marR="25400" marB="7035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4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252525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B사</a:t>
                      </a:r>
                      <a:endParaRPr lang="en-US" sz="1100"/>
                    </a:p>
                  </a:txBody>
                  <a:tcPr anchor="ctr" marL="25400" marT="70357" marR="25400" marB="7035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4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252525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30%</a:t>
                      </a:r>
                      <a:endParaRPr lang="en-US" sz="1100"/>
                    </a:p>
                  </a:txBody>
                  <a:tcPr anchor="ctr" marL="25400" marT="70357" marR="25400" marB="7035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4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267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252525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2</a:t>
                      </a:r>
                      <a:endParaRPr lang="en-US" sz="1100"/>
                    </a:p>
                  </a:txBody>
                  <a:tcPr anchor="ctr" marL="25400" marT="70357" marR="25400" marB="7035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252525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A사</a:t>
                      </a:r>
                      <a:endParaRPr lang="en-US" sz="1100"/>
                    </a:p>
                  </a:txBody>
                  <a:tcPr anchor="ctr" marL="25400" marT="70357" marR="25400" marB="7035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252525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25%</a:t>
                      </a:r>
                      <a:endParaRPr lang="en-US" sz="1100"/>
                    </a:p>
                  </a:txBody>
                  <a:tcPr anchor="ctr" marL="25400" marT="70357" marR="25400" marB="7035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267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252525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3</a:t>
                      </a:r>
                      <a:endParaRPr lang="en-US" sz="1100"/>
                    </a:p>
                  </a:txBody>
                  <a:tcPr anchor="ctr" marL="25400" marT="70357" marR="25400" marB="7035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252525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C사</a:t>
                      </a:r>
                      <a:endParaRPr lang="en-US" sz="1100"/>
                    </a:p>
                  </a:txBody>
                  <a:tcPr anchor="ctr" marL="25400" marT="70357" marR="25400" marB="7035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252525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20%</a:t>
                      </a:r>
                      <a:endParaRPr lang="en-US" sz="1100"/>
                    </a:p>
                  </a:txBody>
                  <a:tcPr anchor="ctr" marL="25400" marT="70357" marR="25400" marB="7035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267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252525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4</a:t>
                      </a:r>
                      <a:endParaRPr lang="en-US" sz="1100"/>
                    </a:p>
                  </a:txBody>
                  <a:tcPr anchor="ctr" marL="25400" marT="70357" marR="25400" marB="7035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0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252525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미리푸드</a:t>
                      </a:r>
                      <a:endParaRPr lang="en-US" sz="1100"/>
                    </a:p>
                  </a:txBody>
                  <a:tcPr anchor="ctr" marL="25400" marT="70357" marR="25400" marB="7035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0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252525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X%</a:t>
                      </a:r>
                      <a:endParaRPr lang="en-US" sz="1100"/>
                    </a:p>
                  </a:txBody>
                  <a:tcPr anchor="ctr" marL="25400" marT="70357" marR="25400" marB="7035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0EB"/>
                    </a:solidFill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6057900" y="1943100"/>
            <a:ext cx="16802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경쟁 구도 분석에서 발견한 핵심 인사이트를 간단히 요약해 보세요.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00200" y="1981200"/>
            <a:ext cx="3898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경쟁사 파악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3700" y="3759200"/>
            <a:ext cx="3644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| 경쟁사 포지셔닝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46000" y="3759200"/>
            <a:ext cx="8013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| 시장 내 점유율 및 성장률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74600" y="9601200"/>
            <a:ext cx="9855200" cy="186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경쟁사들의 공통적 강점/약점, 시장 공백 영역,</a:t>
            </a:r>
          </a:p>
          <a:p>
            <a:pPr algn="ctr" lvl="0">
              <a:lnSpc>
                <a:spcPct val="1244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우리의 차별화 기회 등을</a:t>
            </a:r>
          </a:p>
          <a:p>
            <a:pPr algn="ctr" lvl="0">
              <a:lnSpc>
                <a:spcPct val="1244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3-4문장으로 입력해 보세요.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89100" y="4826000"/>
            <a:ext cx="876300" cy="431800"/>
          </a:xfrm>
          <a:prstGeom prst="rect">
            <a:avLst/>
          </a:prstGeom>
        </p:spPr>
        <p:txBody>
          <a:bodyPr anchor="t" rtlCol="false" lIns="0" tIns="7620" rIns="0" bIns="0"/>
          <a:lstStyle/>
          <a:p>
            <a:pPr algn="ctr" lvl="0">
              <a:lnSpc>
                <a:spcPct val="112050"/>
              </a:lnSpc>
            </a:pPr>
            <a:r>
              <a:rPr lang="en-US" sz="2399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높음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1000" y="7937500"/>
            <a:ext cx="965200" cy="431800"/>
          </a:xfrm>
          <a:prstGeom prst="rect">
            <a:avLst/>
          </a:prstGeom>
        </p:spPr>
        <p:txBody>
          <a:bodyPr anchor="t" rtlCol="false" lIns="0" tIns="7620" rIns="0" bIns="0"/>
          <a:lstStyle/>
          <a:p>
            <a:pPr algn="ctr" lvl="0">
              <a:lnSpc>
                <a:spcPct val="112050"/>
              </a:lnSpc>
            </a:pPr>
            <a:r>
              <a:rPr lang="en-US" sz="2400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점유율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51000" y="10922000"/>
            <a:ext cx="965200" cy="431800"/>
          </a:xfrm>
          <a:prstGeom prst="rect">
            <a:avLst/>
          </a:prstGeom>
        </p:spPr>
        <p:txBody>
          <a:bodyPr anchor="t" rtlCol="false" lIns="0" tIns="7620" rIns="0" bIns="0"/>
          <a:lstStyle/>
          <a:p>
            <a:pPr algn="ctr" lvl="0">
              <a:lnSpc>
                <a:spcPct val="112050"/>
              </a:lnSpc>
            </a:pPr>
            <a:r>
              <a:rPr lang="en-US" sz="2400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낮음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28900" y="11531600"/>
            <a:ext cx="965200" cy="431800"/>
          </a:xfrm>
          <a:prstGeom prst="rect">
            <a:avLst/>
          </a:prstGeom>
        </p:spPr>
        <p:txBody>
          <a:bodyPr anchor="t" rtlCol="false" lIns="0" tIns="7620" rIns="0" bIns="0"/>
          <a:lstStyle/>
          <a:p>
            <a:pPr algn="ctr" lvl="0">
              <a:lnSpc>
                <a:spcPct val="112050"/>
              </a:lnSpc>
            </a:pPr>
            <a:r>
              <a:rPr lang="en-US" sz="2400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낮음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15100" y="11531600"/>
            <a:ext cx="965200" cy="431800"/>
          </a:xfrm>
          <a:prstGeom prst="rect">
            <a:avLst/>
          </a:prstGeom>
        </p:spPr>
        <p:txBody>
          <a:bodyPr anchor="t" rtlCol="false" lIns="0" tIns="7620" rIns="0" bIns="0"/>
          <a:lstStyle/>
          <a:p>
            <a:pPr algn="ctr" lvl="0">
              <a:lnSpc>
                <a:spcPct val="112050"/>
              </a:lnSpc>
            </a:pPr>
            <a:r>
              <a:rPr lang="en-US" sz="2400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가격대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528300" y="11531600"/>
            <a:ext cx="965200" cy="431800"/>
          </a:xfrm>
          <a:prstGeom prst="rect">
            <a:avLst/>
          </a:prstGeom>
        </p:spPr>
        <p:txBody>
          <a:bodyPr anchor="t" rtlCol="false" lIns="0" tIns="7620" rIns="0" bIns="0"/>
          <a:lstStyle/>
          <a:p>
            <a:pPr algn="ctr" lvl="0">
              <a:lnSpc>
                <a:spcPct val="112050"/>
              </a:lnSpc>
            </a:pPr>
            <a:r>
              <a:rPr lang="en-US" sz="2400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높음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619500" y="5740400"/>
            <a:ext cx="1181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808080"/>
                </a:solidFill>
                <a:latin typeface="NanumSquare Bold"/>
                <a:ea typeface="NanumSquare Bold"/>
                <a:cs typeface="NanumSquare Bold"/>
              </a:rPr>
              <a:t>A사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82200" y="5067300"/>
            <a:ext cx="1181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808080"/>
                </a:solidFill>
                <a:latin typeface="NanumSquare Bold"/>
                <a:ea typeface="NanumSquare Bold"/>
                <a:cs typeface="NanumSquare Bold"/>
              </a:rPr>
              <a:t>B사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73700" y="6858000"/>
            <a:ext cx="1181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808080"/>
                </a:solidFill>
                <a:latin typeface="NanumSquare Bold"/>
                <a:ea typeface="NanumSquare Bold"/>
                <a:cs typeface="NanumSquare Bold"/>
              </a:rPr>
              <a:t>C사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493000" y="9880600"/>
            <a:ext cx="1181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808080"/>
                </a:solidFill>
                <a:latin typeface="NanumSquare Bold"/>
                <a:ea typeface="NanumSquare Bold"/>
                <a:cs typeface="NanumSquare Bold"/>
              </a:rPr>
              <a:t>D사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05800" y="7861300"/>
            <a:ext cx="1689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미리푸드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3700" y="1524000"/>
            <a:ext cx="21069300" cy="149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1524000"/>
            <a:ext cx="37719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3784600"/>
            <a:ext cx="21069300" cy="3530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35200" y="5308600"/>
            <a:ext cx="9779000" cy="1536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76400" y="8966200"/>
            <a:ext cx="6680200" cy="3098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69800" y="5308600"/>
            <a:ext cx="9779000" cy="1536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849100" y="5727700"/>
            <a:ext cx="698500" cy="698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851900" y="8966200"/>
            <a:ext cx="6680200" cy="3098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027400" y="8966200"/>
            <a:ext cx="6680200" cy="3098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061200" y="9283700"/>
            <a:ext cx="10160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251700" y="9474200"/>
            <a:ext cx="6350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224000" y="9283700"/>
            <a:ext cx="1016000" cy="1016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4465300" y="9423400"/>
            <a:ext cx="571500" cy="622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1386800" y="9283700"/>
            <a:ext cx="1016000" cy="1016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1564600" y="9423400"/>
            <a:ext cx="685800" cy="685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8864600" y="7632700"/>
            <a:ext cx="6654800" cy="10160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6057900" y="1943100"/>
            <a:ext cx="16802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3~4개의 전략 키워드와 함께 핵심 전략 방향을 간단하게 요약해 보세요.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00200" y="1981200"/>
            <a:ext cx="3898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핵심 전략 방향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04100" y="4216400"/>
            <a:ext cx="9575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전략이 지향하는 최종 목표나 비전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87500" y="5410200"/>
            <a:ext cx="10477500" cy="133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추진할 전략의 방향성을 입력해 보세요.</a:t>
            </a:r>
            <a:r>
              <a:rPr lang="en-US" sz="2933" b="false" i="false" u="none" strike="noStrike">
                <a:solidFill>
                  <a:srgbClr val="3AA0C9"/>
                </a:solidFill>
                <a:latin typeface="NanumSquare Regular"/>
                <a:ea typeface="NanumSquare Regular"/>
                <a:cs typeface="NanumSquare Regular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47900" y="9525000"/>
            <a:ext cx="3314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유통망 확대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47900" y="10414000"/>
            <a:ext cx="47117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전략의 핵심 내용 요약을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입력해 보세요.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19000" y="5410200"/>
            <a:ext cx="10477500" cy="133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추진할 전략의 방향성을 입력해 보세요.</a:t>
            </a:r>
            <a:r>
              <a:rPr lang="en-US" sz="2933" b="false" i="false" u="none" strike="noStrike">
                <a:solidFill>
                  <a:srgbClr val="3AA0C9"/>
                </a:solidFill>
                <a:latin typeface="NanumSquare Regular"/>
                <a:ea typeface="NanumSquare Regular"/>
                <a:cs typeface="NanumSquare Regular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13900" y="9525000"/>
            <a:ext cx="3314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고객 리텐션 강화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13900" y="10414000"/>
            <a:ext cx="47117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전략의 핵심 내용 요약을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입력해 보세요.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916400" y="9525000"/>
            <a:ext cx="3314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타겟 집중 마케팅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916400" y="10414000"/>
            <a:ext cx="47117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전략의 핵심 내용 요약을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입력해 보세요.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3700" y="1524000"/>
            <a:ext cx="21069300" cy="149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1524000"/>
            <a:ext cx="37719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018000" y="4902200"/>
            <a:ext cx="5715000" cy="7162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483600" y="4902200"/>
            <a:ext cx="7416800" cy="7162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51000" y="4902200"/>
            <a:ext cx="5727700" cy="2260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51000" y="7366000"/>
            <a:ext cx="5727700" cy="2260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51000" y="9804400"/>
            <a:ext cx="5727700" cy="2260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359900" y="8128000"/>
            <a:ext cx="56642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359900" y="9258300"/>
            <a:ext cx="56642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359900" y="10388600"/>
            <a:ext cx="5664200" cy="25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13843000" y="8115300"/>
            <a:ext cx="5207000" cy="736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9392900" y="6604000"/>
            <a:ext cx="952500" cy="952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9583400" y="6743700"/>
            <a:ext cx="571500" cy="635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51000" y="3771900"/>
            <a:ext cx="5727700" cy="914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5359400" y="8115300"/>
            <a:ext cx="5207000" cy="736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8483600" y="3771900"/>
            <a:ext cx="7416800" cy="914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7018000" y="3771900"/>
            <a:ext cx="5715000" cy="9144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6057900" y="1943100"/>
            <a:ext cx="16802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방안의 핵심 내용과 기대 효과를 간단하게 요약해 보세요.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00200" y="1981200"/>
            <a:ext cx="3898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판매 활성화 방안 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653000" y="7950200"/>
            <a:ext cx="4419600" cy="177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해당 방안의 기대효과나 최종 목표를</a:t>
            </a:r>
          </a:p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입력해 보세요.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29800" y="5638800"/>
            <a:ext cx="47117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이곳에 접근성을 위한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입점 조건을 입력해 보세요.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64700" y="9575800"/>
            <a:ext cx="5156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세부 실행 조건을 입력해 보세요.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77400" y="10693400"/>
            <a:ext cx="5156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세부 실행 조건을 입력해 보세요.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159000" y="5765800"/>
            <a:ext cx="4711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프리미엄 [시설]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59000" y="8191500"/>
            <a:ext cx="4711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유통망 세부 항목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159000" y="10604500"/>
            <a:ext cx="4711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유통망 세부 항목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77400" y="7340600"/>
            <a:ext cx="5156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세부 실행 조건을 입력해 보세요.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77400" y="8445500"/>
            <a:ext cx="5156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세부 실행 조건을 입력해 보세요.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57500" y="3937000"/>
            <a:ext cx="3314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유통망 확대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8211800" y="3937000"/>
            <a:ext cx="3314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최종 목표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28300" y="3937000"/>
            <a:ext cx="3314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접근성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1524000"/>
            <a:ext cx="210693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1524000"/>
            <a:ext cx="3771900" cy="149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63700" y="3759200"/>
            <a:ext cx="21043900" cy="8305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159000" y="6934200"/>
            <a:ext cx="20066000" cy="1968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311900" y="4318000"/>
            <a:ext cx="7124700" cy="7200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769100" y="5791200"/>
            <a:ext cx="1892300" cy="2984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928100" y="5791200"/>
            <a:ext cx="1892300" cy="298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099800" y="5791200"/>
            <a:ext cx="1892300" cy="2984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997700" y="9410700"/>
            <a:ext cx="1397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985000" y="10045700"/>
            <a:ext cx="139700" cy="13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985000" y="10680700"/>
            <a:ext cx="139700" cy="139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665200" y="4318000"/>
            <a:ext cx="7124700" cy="7200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692900" y="5346700"/>
            <a:ext cx="6375400" cy="25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135100" y="5791200"/>
            <a:ext cx="6210300" cy="1320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135100" y="7454900"/>
            <a:ext cx="6210300" cy="1320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4046200" y="5346700"/>
            <a:ext cx="6375400" cy="25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4312900" y="5956300"/>
            <a:ext cx="1016000" cy="1016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4312900" y="7607300"/>
            <a:ext cx="1016000" cy="1016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4554200" y="7810500"/>
            <a:ext cx="571500" cy="571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4554200" y="6134100"/>
            <a:ext cx="571500" cy="635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3441700" y="5956300"/>
            <a:ext cx="2641600" cy="41021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6057900" y="1943100"/>
            <a:ext cx="16802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방안의 핵심 내용과 기대 효과를 간단하게 요약해 보세요.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00200" y="1981200"/>
            <a:ext cx="3898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판매 활성화 방안 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29600" y="4546600"/>
            <a:ext cx="685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 spc="-300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890000" y="4546600"/>
            <a:ext cx="2730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구독 프로그램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50100" y="6210300"/>
            <a:ext cx="1130300" cy="990600"/>
          </a:xfrm>
          <a:prstGeom prst="rect">
            <a:avLst/>
          </a:prstGeom>
        </p:spPr>
        <p:txBody>
          <a:bodyPr anchor="t" rtlCol="false" lIns="0" tIns="27940" rIns="0" bIns="0"/>
          <a:lstStyle/>
          <a:p>
            <a:pPr algn="ctr" lvl="0">
              <a:lnSpc>
                <a:spcPct val="103749"/>
              </a:lnSpc>
            </a:pPr>
            <a:r>
              <a:rPr lang="en-US" sz="29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고객</a:t>
            </a:r>
          </a:p>
          <a:p>
            <a:pPr algn="ctr" lvl="0">
              <a:lnSpc>
                <a:spcPct val="103749"/>
              </a:lnSpc>
            </a:pPr>
            <a:r>
              <a:rPr lang="en-US" sz="29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요소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69100" y="7620000"/>
            <a:ext cx="1905000" cy="800100"/>
          </a:xfrm>
          <a:prstGeom prst="rect">
            <a:avLst/>
          </a:prstGeom>
        </p:spPr>
        <p:txBody>
          <a:bodyPr anchor="t" rtlCol="false" lIns="0" tIns="26670" rIns="0" bIns="0"/>
          <a:lstStyle/>
          <a:p>
            <a:pPr algn="ctr" lvl="0">
              <a:lnSpc>
                <a:spcPct val="101675"/>
              </a:lnSpc>
            </a:pPr>
            <a:r>
              <a:rPr lang="en-US" sz="2400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고객 특성
입력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09100" y="6210300"/>
            <a:ext cx="1130300" cy="990600"/>
          </a:xfrm>
          <a:prstGeom prst="rect">
            <a:avLst/>
          </a:prstGeom>
        </p:spPr>
        <p:txBody>
          <a:bodyPr anchor="t" rtlCol="false" lIns="0" tIns="27940" rIns="0" bIns="0"/>
          <a:lstStyle/>
          <a:p>
            <a:pPr algn="ctr" lvl="0">
              <a:lnSpc>
                <a:spcPct val="103749"/>
              </a:lnSpc>
            </a:pPr>
            <a:r>
              <a:rPr lang="en-US" sz="29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고객</a:t>
            </a:r>
          </a:p>
          <a:p>
            <a:pPr algn="ctr" lvl="0">
              <a:lnSpc>
                <a:spcPct val="103749"/>
              </a:lnSpc>
            </a:pPr>
            <a:r>
              <a:rPr lang="en-US" sz="29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요소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915400" y="7620000"/>
            <a:ext cx="1905000" cy="800100"/>
          </a:xfrm>
          <a:prstGeom prst="rect">
            <a:avLst/>
          </a:prstGeom>
        </p:spPr>
        <p:txBody>
          <a:bodyPr anchor="t" rtlCol="false" lIns="0" tIns="26670" rIns="0" bIns="0"/>
          <a:lstStyle/>
          <a:p>
            <a:pPr algn="ctr" lvl="0">
              <a:lnSpc>
                <a:spcPct val="101675"/>
              </a:lnSpc>
            </a:pPr>
            <a:r>
              <a:rPr lang="en-US" sz="2400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고객 특성
입력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80800" y="6210300"/>
            <a:ext cx="1130300" cy="990600"/>
          </a:xfrm>
          <a:prstGeom prst="rect">
            <a:avLst/>
          </a:prstGeom>
        </p:spPr>
        <p:txBody>
          <a:bodyPr anchor="t" rtlCol="false" lIns="0" tIns="27940" rIns="0" bIns="0"/>
          <a:lstStyle/>
          <a:p>
            <a:pPr algn="ctr" lvl="0">
              <a:lnSpc>
                <a:spcPct val="103749"/>
              </a:lnSpc>
            </a:pPr>
            <a:r>
              <a:rPr lang="en-US" sz="29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고객</a:t>
            </a:r>
          </a:p>
          <a:p>
            <a:pPr algn="ctr" lvl="0">
              <a:lnSpc>
                <a:spcPct val="103749"/>
              </a:lnSpc>
            </a:pPr>
            <a:r>
              <a:rPr lang="en-US" sz="29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요소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87100" y="7581900"/>
            <a:ext cx="1905000" cy="800100"/>
          </a:xfrm>
          <a:prstGeom prst="rect">
            <a:avLst/>
          </a:prstGeom>
        </p:spPr>
        <p:txBody>
          <a:bodyPr anchor="t" rtlCol="false" lIns="0" tIns="26670" rIns="0" bIns="0"/>
          <a:lstStyle/>
          <a:p>
            <a:pPr algn="ctr" lvl="0">
              <a:lnSpc>
                <a:spcPct val="101675"/>
              </a:lnSpc>
            </a:pPr>
            <a:r>
              <a:rPr lang="en-US" sz="2400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고객 특성
입력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40600" y="9258300"/>
            <a:ext cx="56007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주 2회 구독 : 15% 할인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40600" y="9893300"/>
            <a:ext cx="56642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구체적인 프로그램 내용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340600" y="10528300"/>
            <a:ext cx="56007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구체적인 프로그램 내용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582900" y="4546600"/>
            <a:ext cx="850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446500" y="4546600"/>
            <a:ext cx="2197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포인트 적립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671800" y="6134100"/>
            <a:ext cx="4508500" cy="596900"/>
          </a:xfrm>
          <a:prstGeom prst="rect">
            <a:avLst/>
          </a:prstGeom>
        </p:spPr>
        <p:txBody>
          <a:bodyPr anchor="t" rtlCol="false" lIns="0" tIns="31750" rIns="0" bIns="0"/>
          <a:lstStyle/>
          <a:p>
            <a:pPr algn="l" lvl="0">
              <a:lnSpc>
                <a:spcPct val="10374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구매 고객 5% 자동 적립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427200" y="9296400"/>
            <a:ext cx="5600700" cy="163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구독으로 규칙적 구매 유도 후</a:t>
            </a:r>
          </a:p>
          <a:p>
            <a:pPr algn="ctr" lvl="0">
              <a:lnSpc>
                <a:spcPct val="1244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포인트 적립으로 장기 고객</a:t>
            </a:r>
          </a:p>
          <a:p>
            <a:pPr algn="ctr" lvl="0">
              <a:lnSpc>
                <a:spcPct val="1244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관계를 강화해 이탈 방지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671800" y="7797800"/>
            <a:ext cx="4508500" cy="596900"/>
          </a:xfrm>
          <a:prstGeom prst="rect">
            <a:avLst/>
          </a:prstGeom>
        </p:spPr>
        <p:txBody>
          <a:bodyPr anchor="t" rtlCol="false" lIns="0" tIns="31750" rIns="0" bIns="0"/>
          <a:lstStyle/>
          <a:p>
            <a:pPr algn="l" lvl="0">
              <a:lnSpc>
                <a:spcPct val="10374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친구 추천 시 포인트 지급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479800" y="7213600"/>
            <a:ext cx="25527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타겟 고객의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대표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페르소나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3700" y="1524000"/>
            <a:ext cx="21069300" cy="149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1524000"/>
            <a:ext cx="37719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57600" y="4406900"/>
            <a:ext cx="66421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63700" y="3924300"/>
            <a:ext cx="2667000" cy="990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941300" y="4406900"/>
            <a:ext cx="67183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040600" y="3924300"/>
            <a:ext cx="2667000" cy="990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642600" y="3797300"/>
            <a:ext cx="3111500" cy="1231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185400" y="4292600"/>
            <a:ext cx="228600" cy="266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545300" y="4279900"/>
            <a:ext cx="228600" cy="266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35100" y="5346700"/>
            <a:ext cx="21501100" cy="2247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788400" y="7848600"/>
            <a:ext cx="6819900" cy="4229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321800" y="9321800"/>
            <a:ext cx="139700" cy="139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321800" y="9944100"/>
            <a:ext cx="139700" cy="139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321800" y="10566400"/>
            <a:ext cx="139700" cy="139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321800" y="11188700"/>
            <a:ext cx="1397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5900400" y="7848600"/>
            <a:ext cx="6819900" cy="4229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6408400" y="9321800"/>
            <a:ext cx="139700" cy="139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408400" y="9944100"/>
            <a:ext cx="139700" cy="139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408400" y="10566400"/>
            <a:ext cx="139700" cy="139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6408400" y="11188700"/>
            <a:ext cx="139700" cy="139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689100" y="7874000"/>
            <a:ext cx="6819900" cy="4229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222500" y="9334500"/>
            <a:ext cx="139700" cy="139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222500" y="9969500"/>
            <a:ext cx="139700" cy="1397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222500" y="10591800"/>
            <a:ext cx="139700" cy="139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222500" y="11214100"/>
            <a:ext cx="139700" cy="1397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6057900" y="1943100"/>
            <a:ext cx="16802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방안의 핵심 내용과 기대 효과를 간단하게 요약해 보세요.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00200" y="1981200"/>
            <a:ext cx="3898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판매 활성화 방안 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25600" y="4114800"/>
            <a:ext cx="27686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인지 확대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977100" y="4114800"/>
            <a:ext cx="2781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구매 전환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087100" y="4013200"/>
            <a:ext cx="2222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관심 유도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788400" y="6261100"/>
            <a:ext cx="6794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인플루언서 협업 캠페인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350500" y="8216900"/>
            <a:ext cx="37084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3AA0C9"/>
                </a:solidFill>
                <a:latin typeface="NanumSquare Bold"/>
                <a:ea typeface="NanumSquare Bold"/>
                <a:cs typeface="NanumSquare Bold"/>
              </a:rPr>
              <a:t>콘텐츠 제작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52000" y="9169400"/>
            <a:ext cx="42418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일주일 샐러드 챌린지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52000" y="9791700"/>
            <a:ext cx="42418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비포/애프터 루틴 공유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52000" y="10414000"/>
            <a:ext cx="42418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해시태그 캠페인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652000" y="11036300"/>
            <a:ext cx="42418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핵심 방안의 주요 특징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449800" y="8216900"/>
            <a:ext cx="37084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3AA0C9"/>
                </a:solidFill>
                <a:latin typeface="NanumSquare Bold"/>
                <a:ea typeface="NanumSquare Bold"/>
                <a:cs typeface="NanumSquare Bold"/>
              </a:rPr>
              <a:t>참여 유도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751300" y="9169400"/>
            <a:ext cx="42418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참여 인증샷 이벤트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751300" y="9791700"/>
            <a:ext cx="42418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인플루언서 할인코드 제공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751300" y="10414000"/>
            <a:ext cx="42418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핵심 방안의 주요 특징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751300" y="11036300"/>
            <a:ext cx="42418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핵심 방안의 주요 특징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238500" y="8242300"/>
            <a:ext cx="37084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3AA0C9"/>
                </a:solidFill>
                <a:latin typeface="NanumSquare Bold"/>
                <a:ea typeface="NanumSquare Bold"/>
                <a:cs typeface="NanumSquare Bold"/>
              </a:rPr>
              <a:t>인플루언서 선정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565400" y="9182100"/>
            <a:ext cx="42418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건강/다이어트 카테고리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565400" y="9817100"/>
            <a:ext cx="53467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5만 이하 마이크로 인플루언서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565400" y="10439400"/>
            <a:ext cx="42418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핵심 방안의 주요 특징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565400" y="11061700"/>
            <a:ext cx="42418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핵심 방안의 주요 특징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3700" y="1524000"/>
            <a:ext cx="21069300" cy="149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1524000"/>
            <a:ext cx="37719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5092700"/>
            <a:ext cx="4597400" cy="2184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477000" y="3797300"/>
            <a:ext cx="8026400" cy="1066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430500" y="3797300"/>
            <a:ext cx="7289800" cy="1066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477000" y="5092700"/>
            <a:ext cx="8026400" cy="2184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430500" y="5092700"/>
            <a:ext cx="7289800" cy="2184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63700" y="7493000"/>
            <a:ext cx="4597400" cy="2184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477000" y="7493000"/>
            <a:ext cx="8026400" cy="2184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430500" y="7493000"/>
            <a:ext cx="7289800" cy="2184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663700" y="9906000"/>
            <a:ext cx="4597400" cy="2184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477000" y="9906000"/>
            <a:ext cx="8026400" cy="2184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5430500" y="9906000"/>
            <a:ext cx="7289800" cy="2184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13995400" y="5880100"/>
            <a:ext cx="1993900" cy="558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13995400" y="8305800"/>
            <a:ext cx="1993900" cy="558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13995400" y="10718800"/>
            <a:ext cx="1993900" cy="5588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6057900" y="1943100"/>
            <a:ext cx="16802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예측한 성과의 핵심 내용을 요약해 보세요. 주요 지표를 제시해도 좋습니다.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00200" y="1981200"/>
            <a:ext cx="3898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성과 예측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79700" y="5880100"/>
            <a:ext cx="2578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유통망 확대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94800" y="4025900"/>
            <a:ext cx="2578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정성적 성과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792700" y="4025900"/>
            <a:ext cx="2578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정량적 성과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27900" y="5397500"/>
            <a:ext cx="63119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[시설] 입점으로 타겟 고객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접근성이 개선되어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일상적 소비 가능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900400" y="5511800"/>
            <a:ext cx="6350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월 2,000개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913100" y="6286500"/>
            <a:ext cx="63119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오프라인 판매량</a:t>
            </a:r>
            <a:br>
              <a:rPr lang="en-US" sz="2400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</a:br>
          </a:p>
        </p:txBody>
      </p:sp>
      <p:sp>
        <p:nvSpPr>
          <p:cNvPr name="TextBox 29" id="29"/>
          <p:cNvSpPr txBox="true"/>
          <p:nvPr/>
        </p:nvSpPr>
        <p:spPr>
          <a:xfrm rot="0">
            <a:off x="2095500" y="8293100"/>
            <a:ext cx="3721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재구매 프로그램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327900" y="7810500"/>
            <a:ext cx="63119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이곳에 해당 방안으로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도달할 수 있는 정성적 성과를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작성해 보세요.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900400" y="7924800"/>
            <a:ext cx="6350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월 500명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925800" y="8775700"/>
            <a:ext cx="6286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구독 고객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679700" y="10706100"/>
            <a:ext cx="2578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타겟 마케팅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327900" y="10210800"/>
            <a:ext cx="63119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이곳에 해당 방안으로
도달할 수 있는 정성적 성과를
작성해 보세요.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900400" y="10337800"/>
            <a:ext cx="6350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12%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925800" y="11150600"/>
            <a:ext cx="6286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구매 전환율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3700" y="1524000"/>
            <a:ext cx="21069300" cy="149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1524000"/>
            <a:ext cx="37719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 rot="0">
            <a:off x="5918200" y="3759200"/>
            <a:ext cx="8724900" cy="105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 rot="0">
            <a:off x="1663700" y="3771900"/>
            <a:ext cx="4648200" cy="1054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249400" y="3759200"/>
            <a:ext cx="84836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 rot="10800000">
            <a:off x="1663700" y="11036300"/>
            <a:ext cx="21031200" cy="1028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63700" y="5029200"/>
            <a:ext cx="4102100" cy="5791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06600" y="67183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006600" y="74295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06600" y="8674100"/>
            <a:ext cx="1397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905500" y="5029200"/>
            <a:ext cx="4102100" cy="5791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147300" y="5029200"/>
            <a:ext cx="4102100" cy="5791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389100" y="5029200"/>
            <a:ext cx="4102100" cy="5791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8630900" y="5029200"/>
            <a:ext cx="4102100" cy="5791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261100" y="6718300"/>
            <a:ext cx="1397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502900" y="6718300"/>
            <a:ext cx="139700" cy="139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706600" y="6718300"/>
            <a:ext cx="139700" cy="139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948400" y="6718300"/>
            <a:ext cx="139700" cy="1397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6057900" y="1943100"/>
            <a:ext cx="16802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실행 일정의 전체 흐름을 간단하게 요약해 보세요.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00200" y="1981200"/>
            <a:ext cx="3898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실행 일정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00200" y="4000500"/>
            <a:ext cx="4305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준비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75400" y="4000500"/>
            <a:ext cx="7785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집중 실행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732000" y="4000500"/>
            <a:ext cx="7543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최적화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25700" y="5461000"/>
            <a:ext cx="2578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3AA0C9"/>
                </a:solidFill>
                <a:latin typeface="NanumSquare Bold"/>
                <a:ea typeface="NanumSquare Bold"/>
                <a:cs typeface="NanumSquare Bold"/>
              </a:rPr>
              <a:t>1개월차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49500" y="6565900"/>
            <a:ext cx="35179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입점 협상 개시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49500" y="7277100"/>
            <a:ext cx="3517900" cy="1028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인플루언서 섭외 및</a:t>
            </a:r>
          </a:p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콘텐츠 기획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349500" y="8521700"/>
            <a:ext cx="35179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포인트 적립 정책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667500" y="5461000"/>
            <a:ext cx="2578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3AA0C9"/>
                </a:solidFill>
                <a:latin typeface="NanumSquare Bold"/>
                <a:ea typeface="NanumSquare Bold"/>
                <a:cs typeface="NanumSquare Bold"/>
              </a:rPr>
              <a:t>2개월차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04000" y="6565900"/>
            <a:ext cx="3517900" cy="15240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이곳에 해당 기간의
주요 과업들을
나열해 보세요.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09300" y="5461000"/>
            <a:ext cx="2578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3AA0C9"/>
                </a:solidFill>
                <a:latin typeface="NanumSquare Bold"/>
                <a:ea typeface="NanumSquare Bold"/>
                <a:cs typeface="NanumSquare Bold"/>
              </a:rPr>
              <a:t>3개월차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845800" y="6565900"/>
            <a:ext cx="3517900" cy="15240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이곳에 해당 기간의
주요 과업들을
나열해 보세요.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113000" y="5461000"/>
            <a:ext cx="2578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3AA0C9"/>
                </a:solidFill>
                <a:latin typeface="NanumSquare Bold"/>
                <a:ea typeface="NanumSquare Bold"/>
                <a:cs typeface="NanumSquare Bold"/>
              </a:rPr>
              <a:t>4개월차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049500" y="6565900"/>
            <a:ext cx="3517900" cy="15240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이곳에 해당 기간의
주요 과업들을
나열해 보세요.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354800" y="5461000"/>
            <a:ext cx="2578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3AA0C9"/>
                </a:solidFill>
                <a:latin typeface="NanumSquare Bold"/>
                <a:ea typeface="NanumSquare Bold"/>
                <a:cs typeface="NanumSquare Bold"/>
              </a:rPr>
              <a:t>5개월차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291300" y="6565900"/>
            <a:ext cx="3517900" cy="15240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이곳에 해당 기간의
주요 과업들을
나열해 보세요.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70100" y="11277600"/>
            <a:ext cx="20218400" cy="520700"/>
          </a:xfrm>
          <a:prstGeom prst="rect">
            <a:avLst/>
          </a:prstGeom>
        </p:spPr>
        <p:txBody>
          <a:bodyPr anchor="t" rtlCol="false" lIns="0" tIns="18627" rIns="0" bIns="0"/>
          <a:lstStyle/>
          <a:p>
            <a:pPr algn="ctr" lvl="0">
              <a:lnSpc>
                <a:spcPct val="1078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6개월 성과를 바탕으로 전략을 개선해 다음 사이클의 준비 단계로 진입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1524000"/>
            <a:ext cx="210693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1524000"/>
            <a:ext cx="3771900" cy="149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76400" y="3784600"/>
            <a:ext cx="10375900" cy="396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331700" y="3784600"/>
            <a:ext cx="10375900" cy="396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76400" y="8102600"/>
            <a:ext cx="10375900" cy="3962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331700" y="8102600"/>
            <a:ext cx="10375900" cy="396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76400" y="3784600"/>
            <a:ext cx="2921000" cy="3962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232400" y="49149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232400" y="5676900"/>
            <a:ext cx="1397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232400" y="6438900"/>
            <a:ext cx="139700" cy="13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344400" y="3771900"/>
            <a:ext cx="2921000" cy="3962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900400" y="4902200"/>
            <a:ext cx="139700" cy="139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5900400" y="5664200"/>
            <a:ext cx="139700" cy="139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5900400" y="6426200"/>
            <a:ext cx="1397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76400" y="8115300"/>
            <a:ext cx="2921000" cy="3962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5232400" y="9258300"/>
            <a:ext cx="139700" cy="139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232400" y="10020300"/>
            <a:ext cx="139700" cy="139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232400" y="10782300"/>
            <a:ext cx="139700" cy="139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344400" y="8102600"/>
            <a:ext cx="2921000" cy="3962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5900400" y="9245600"/>
            <a:ext cx="139700" cy="139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900400" y="10007600"/>
            <a:ext cx="139700" cy="139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5900400" y="10769600"/>
            <a:ext cx="139700" cy="1397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628900" y="4762500"/>
            <a:ext cx="1016000" cy="1016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3296900" y="4749800"/>
            <a:ext cx="1016000" cy="1016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2628900" y="9042400"/>
            <a:ext cx="1016000" cy="10160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3296900" y="9029700"/>
            <a:ext cx="1016000" cy="10160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2794000" y="4889500"/>
            <a:ext cx="698500" cy="6985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3525500" y="4940300"/>
            <a:ext cx="596900" cy="596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654300" y="9067800"/>
            <a:ext cx="952500" cy="9525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487400" y="9182100"/>
            <a:ext cx="660400" cy="6604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6057900" y="1943100"/>
            <a:ext cx="16802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역할 분담의 전체적인 구조를 간단하게 요약해 보세요.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00200" y="1981200"/>
            <a:ext cx="3898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역할 분담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12900" y="5981700"/>
            <a:ext cx="3035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마케팅팀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575300" y="4762500"/>
            <a:ext cx="56007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SNS 광고 캠페인 기획 및 집행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575300" y="5524500"/>
            <a:ext cx="56642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브랜드 메시지 및 콘텐츠 제작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575300" y="6286500"/>
            <a:ext cx="56007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캠페인 성과 분석 및 최적화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280900" y="5969000"/>
            <a:ext cx="30480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영업팀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243300" y="4749800"/>
            <a:ext cx="56007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[시설] 입점 협상 및 계약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243300" y="5511800"/>
            <a:ext cx="56642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매장 진열 조건 협의 및 관리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243300" y="6273800"/>
            <a:ext cx="56007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점포별 판매 실적 모니터링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12900" y="10325100"/>
            <a:ext cx="30480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운영팀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575300" y="9105900"/>
            <a:ext cx="56007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구독 프로그램 개발 및 운영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575300" y="9867900"/>
            <a:ext cx="56642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포인트 적립 정책 관리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575300" y="10629900"/>
            <a:ext cx="56007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재고 관리 및 배송 최적화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280900" y="10312400"/>
            <a:ext cx="30480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고객관리팀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243300" y="9093200"/>
            <a:ext cx="56007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고객 문의 및 불만 응대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243300" y="9855200"/>
            <a:ext cx="56642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구독 고객 리텐션 관리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243300" y="10617200"/>
            <a:ext cx="56007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VOC 수집 및 개선사항 전달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435100" y="12192000"/>
            <a:ext cx="21501100" cy="123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889000"/>
            <a:ext cx="22479000" cy="1193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0">
            <a:off x="1587500" y="12344400"/>
            <a:ext cx="21501100" cy="1231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4900" y="1041400"/>
            <a:ext cx="22479000" cy="1193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1524000"/>
            <a:ext cx="21069300" cy="149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1524000"/>
            <a:ext cx="3771900" cy="149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930900" y="2159000"/>
            <a:ext cx="2095500" cy="5778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38300" y="3784600"/>
            <a:ext cx="10553700" cy="1270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76400" y="5689600"/>
            <a:ext cx="5143500" cy="637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048500" y="5689600"/>
            <a:ext cx="5143500" cy="637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76400" y="5689600"/>
            <a:ext cx="5143500" cy="1168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048500" y="5689600"/>
            <a:ext cx="5143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9880600" y="7404100"/>
            <a:ext cx="6337300" cy="914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893800" y="3771900"/>
            <a:ext cx="8813800" cy="8305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566900" y="5321300"/>
            <a:ext cx="139700" cy="139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4566900" y="5969000"/>
            <a:ext cx="139700" cy="139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566900" y="6616700"/>
            <a:ext cx="1397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579600" y="8216900"/>
            <a:ext cx="3162300" cy="3162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8872200" y="8216900"/>
            <a:ext cx="3162300" cy="3162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4579600" y="7277100"/>
            <a:ext cx="139700" cy="139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7843500" y="9652000"/>
            <a:ext cx="889000" cy="25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8542000" y="9537700"/>
            <a:ext cx="228600" cy="266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7894300" y="9994900"/>
            <a:ext cx="889000" cy="25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7843500" y="9867900"/>
            <a:ext cx="228600" cy="2667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6057900" y="1943100"/>
            <a:ext cx="16802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예상되는 주요 리스크를 나열하고 관리 방침을 간단하게 요약해 보세요.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00200" y="1981200"/>
            <a:ext cx="3898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리스크 관리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97200" y="4102100"/>
            <a:ext cx="7823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리스크 관리 사항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12900" y="8280400"/>
            <a:ext cx="5257800" cy="2082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해당 리스크가 발생할 수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있는 상황과 영향을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2-3문장으로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설명해 보세요.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102600" y="5956300"/>
            <a:ext cx="30480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마케팅 효율 저하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17800" y="5956300"/>
            <a:ext cx="30480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52525"/>
                </a:solidFill>
                <a:latin typeface="NanumSquare Bold"/>
                <a:ea typeface="NanumSquare Bold"/>
                <a:cs typeface="NanumSquare Bold"/>
              </a:rPr>
              <a:t>유통 협상 난항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97700" y="8280400"/>
            <a:ext cx="5257800" cy="2082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해당 리스크가 발생할 수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있는 상황과 영향을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2-3문장으로</a:t>
            </a:r>
          </a:p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설명해 보세요.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528800" y="4279900"/>
            <a:ext cx="57150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  <a:t>| 리스크 대응 방안</a:t>
            </a:r>
            <a:br>
              <a:rPr lang="en-US" sz="3333" b="false" i="false" u="none" strike="noStrike">
                <a:solidFill>
                  <a:srgbClr val="266B87"/>
                </a:solidFill>
                <a:latin typeface="NanumSquare Bold"/>
                <a:ea typeface="NanumSquare Bold"/>
                <a:cs typeface="NanumSquare Bold"/>
              </a:rPr>
            </a:br>
          </a:p>
        </p:txBody>
      </p:sp>
      <p:sp>
        <p:nvSpPr>
          <p:cNvPr name="TextBox 35" id="35"/>
          <p:cNvSpPr txBox="true"/>
          <p:nvPr/>
        </p:nvSpPr>
        <p:spPr>
          <a:xfrm rot="0">
            <a:off x="14897100" y="5168900"/>
            <a:ext cx="56007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일간/주간 단위 성과 모니터링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897100" y="5803900"/>
            <a:ext cx="79121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이곳에 구체적인 대응 방안을 나열해 보세요.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897100" y="6451600"/>
            <a:ext cx="78232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이곳에 구체적인 대응 방안을 나열해 보세요.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478000" y="9740900"/>
            <a:ext cx="3365500" cy="1028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ctr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latin typeface="NanumSquare Regular"/>
                <a:ea typeface="NanumSquare Regular"/>
                <a:cs typeface="NanumSquare Regular"/>
              </a:rPr>
              <a:t>주기적</a:t>
            </a:r>
          </a:p>
          <a:p>
            <a:pPr algn="ctr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latin typeface="NanumSquare Regular"/>
                <a:ea typeface="NanumSquare Regular"/>
                <a:cs typeface="NanumSquare Regular"/>
              </a:rPr>
              <a:t>모니터링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8770600" y="9740900"/>
            <a:ext cx="3365500" cy="1028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ctr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latin typeface="NanumSquare Regular"/>
                <a:ea typeface="NanumSquare Regular"/>
                <a:cs typeface="NanumSquare Regular"/>
              </a:rPr>
              <a:t>리스크 관리</a:t>
            </a:r>
          </a:p>
          <a:p>
            <a:pPr algn="ctr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latin typeface="NanumSquare Regular"/>
                <a:ea typeface="NanumSquare Regular"/>
                <a:cs typeface="NanumSquare Regular"/>
              </a:rPr>
              <a:t>방법 키워드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465300" y="8991600"/>
            <a:ext cx="3378200" cy="596900"/>
          </a:xfrm>
          <a:prstGeom prst="rect">
            <a:avLst/>
          </a:prstGeom>
        </p:spPr>
        <p:txBody>
          <a:bodyPr anchor="t" rtlCol="false" lIns="0" tIns="10583" rIns="0" bIns="0"/>
          <a:lstStyle/>
          <a:p>
            <a:pPr algn="ctr" lvl="0">
              <a:lnSpc>
                <a:spcPct val="112050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KEY WORD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8757900" y="8991600"/>
            <a:ext cx="3378200" cy="596900"/>
          </a:xfrm>
          <a:prstGeom prst="rect">
            <a:avLst/>
          </a:prstGeom>
        </p:spPr>
        <p:txBody>
          <a:bodyPr anchor="t" rtlCol="false" lIns="0" tIns="10583" rIns="0" bIns="0"/>
          <a:lstStyle/>
          <a:p>
            <a:pPr algn="ctr" lvl="0">
              <a:lnSpc>
                <a:spcPct val="112050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NanumSquare Bold"/>
                <a:ea typeface="NanumSquare Bold"/>
                <a:cs typeface="NanumSquare Bold"/>
              </a:rPr>
              <a:t>KEY WORD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922500" y="7124700"/>
            <a:ext cx="7899400" cy="520700"/>
          </a:xfrm>
          <a:prstGeom prst="rect">
            <a:avLst/>
          </a:prstGeom>
        </p:spPr>
        <p:txBody>
          <a:bodyPr anchor="t" rtlCol="false" lIns="0" tIns="9313" rIns="0" bIns="0"/>
          <a:lstStyle/>
          <a:p>
            <a:pPr algn="l" lvl="0">
              <a:lnSpc>
                <a:spcPct val="112050"/>
              </a:lnSpc>
            </a:pPr>
            <a:r>
              <a:rPr lang="en-US" sz="2933" b="false" i="false" u="none" strike="noStrike">
                <a:solidFill>
                  <a:srgbClr val="252525"/>
                </a:solidFill>
                <a:latin typeface="NanumSquare Regular"/>
                <a:ea typeface="NanumSquare Regular"/>
                <a:cs typeface="NanumSquare Regular"/>
              </a:rPr>
              <a:t>이곳에 구체적인 대응 방안을 나열해 보세요.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