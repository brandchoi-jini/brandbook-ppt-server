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2724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15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62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8051800"/>
            <a:ext cx="4749800" cy="111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500" y="8382000"/>
            <a:ext cx="1549400" cy="355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36700" y="7035800"/>
            <a:ext cx="13258800" cy="520700"/>
          </a:xfrm>
          <a:prstGeom prst="rect">
            <a:avLst/>
          </a:prstGeom>
        </p:spPr>
        <p:txBody>
          <a:bodyPr lIns="0" tIns="9313" rIns="0" bIns="9313" rtlCol="0" anchor="ctr"/>
          <a:lstStyle/>
          <a:p>
            <a:pPr lvl="0" algn="l">
              <a:lnSpc>
                <a:spcPct val="112050"/>
              </a:lnSpc>
            </a:pPr>
            <a:r>
              <a:rPr lang="en-US" sz="2933" b="0" i="0" u="none" strike="noStrike">
                <a:solidFill>
                  <a:srgbClr val="000000">
                    <a:alpha val="80000"/>
                  </a:srgbClr>
                </a:solidFill>
                <a:latin typeface="Pretendard ExtraLight"/>
                <a:ea typeface="Pretendard ExtraLight"/>
                <a:cs typeface="Pretendard ExtraLight"/>
              </a:rPr>
              <a:t>슬로건을 입력해주세요 슬로건을 입력해주세요 슬로건을 입력해주세요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46300" y="8331200"/>
            <a:ext cx="2235200" cy="571500"/>
          </a:xfrm>
          <a:prstGeom prst="rect">
            <a:avLst/>
          </a:prstGeom>
        </p:spPr>
        <p:txBody>
          <a:bodyPr lIns="0" tIns="49253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3231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학원명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1300" y="1765300"/>
            <a:ext cx="12814300" cy="5054600"/>
          </a:xfrm>
          <a:prstGeom prst="rect">
            <a:avLst/>
          </a:prstGeom>
        </p:spPr>
        <p:txBody>
          <a:bodyPr lIns="0" tIns="409449" rIns="0" bIns="0" rtlCol="0" anchor="t"/>
          <a:lstStyle/>
          <a:p>
            <a:pPr lvl="0" algn="l">
              <a:lnSpc>
                <a:spcPct val="83830"/>
              </a:lnSpc>
            </a:pPr>
            <a:r>
              <a:rPr lang="en-US" sz="16533" b="0" i="0" u="none" strike="noStrik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제목을</a:t>
            </a:r>
          </a:p>
          <a:p>
            <a:pPr lvl="0" algn="l">
              <a:lnSpc>
                <a:spcPct val="83830"/>
              </a:lnSpc>
            </a:pPr>
            <a:r>
              <a:rPr lang="en-US" sz="16533" b="0" i="0" u="none" strike="noStrike" cap="all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입력해 주세요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 rot="20107690">
            <a:off x="16090900" y="6540500"/>
            <a:ext cx="5486400" cy="5257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18617979">
            <a:off x="21704300" y="2590800"/>
            <a:ext cx="3162300" cy="320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 rot="1483933">
            <a:off x="18859500" y="3124200"/>
            <a:ext cx="1524000" cy="1536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0" y="0"/>
            <a:ext cx="1536700" cy="152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192000"/>
            <a:ext cx="15367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2540000" y="11036300"/>
            <a:ext cx="193040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10800000">
            <a:off x="2654300" y="5473700"/>
            <a:ext cx="4521200" cy="4445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175000" y="8140700"/>
            <a:ext cx="4064000" cy="11557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[학원만의</a:t>
            </a:r>
          </a:p>
          <a:p>
            <a:pPr lvl="0" algn="l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교육 방향을</a:t>
            </a:r>
          </a:p>
          <a:p>
            <a:pPr lvl="0" algn="l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적어주세요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75000" y="7200900"/>
            <a:ext cx="36957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교육 방향 1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900" y="10922000"/>
            <a:ext cx="254000" cy="25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10800000">
            <a:off x="7505700" y="5473700"/>
            <a:ext cx="4521200" cy="4445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026400" y="8140700"/>
            <a:ext cx="3695700" cy="11557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학원만의
교육 방향을
적어주세요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6400" y="7200900"/>
            <a:ext cx="31242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교육 방향 2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300" y="10922000"/>
            <a:ext cx="254000" cy="254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10800000">
            <a:off x="12357100" y="5473700"/>
            <a:ext cx="4521200" cy="4445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877800" y="8140700"/>
            <a:ext cx="3911600" cy="11557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학원만의
교육 방향을
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77800" y="7200900"/>
            <a:ext cx="34544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교육 방향 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0700" y="10922000"/>
            <a:ext cx="254000" cy="25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08500" y="5473700"/>
            <a:ext cx="4521200" cy="4445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7729200" y="8140700"/>
            <a:ext cx="4025900" cy="1155700"/>
          </a:xfrm>
          <a:prstGeom prst="rect">
            <a:avLst/>
          </a:prstGeom>
        </p:spPr>
        <p:txBody>
          <a:bodyPr lIns="0" tIns="14394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학원의 교육 방향과</a:t>
            </a:r>
          </a:p>
          <a:p>
            <a:pPr lvl="0" algn="l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정체성을</a:t>
            </a:r>
          </a:p>
          <a:p>
            <a:pPr lvl="0" algn="l">
              <a:lnSpc>
                <a:spcPct val="1078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한 줄로 정의해 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29200" y="7200900"/>
            <a:ext cx="3797300" cy="5715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한 줄 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2100" y="10922000"/>
            <a:ext cx="254000" cy="254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0" y="5892800"/>
            <a:ext cx="736600" cy="647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400" y="5892800"/>
            <a:ext cx="736600" cy="647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7800" y="5892800"/>
            <a:ext cx="736600" cy="6477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29200" y="5892800"/>
            <a:ext cx="736600" cy="647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alphaModFix amt="38000"/>
          </a:blip>
          <a:stretch>
            <a:fillRect/>
          </a:stretch>
        </p:blipFill>
        <p:spPr>
          <a:xfrm>
            <a:off x="19469100" y="1079500"/>
            <a:ext cx="6273800" cy="51308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765300" y="2044700"/>
            <a:ext cx="12509500" cy="2514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학원의 정체성을 보여주는</a:t>
            </a:r>
          </a:p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FC5230"/>
                </a:solidFill>
                <a:latin typeface="Pretendard Medium"/>
                <a:ea typeface="Pretendard Medium"/>
                <a:cs typeface="Pretendard Medium"/>
              </a:rPr>
              <a:t>문구를 한줄로 작성</a:t>
            </a:r>
            <a:r>
              <a:rPr lang="en-US" sz="7733" b="0" i="0" u="none" strike="noStrike" spc="-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해주세요.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-825500" y="8204200"/>
            <a:ext cx="8267700" cy="8064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872200" y="-2425700"/>
            <a:ext cx="6654800" cy="665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549400" y="5803900"/>
            <a:ext cx="6858000" cy="6781800"/>
          </a:xfrm>
          <a:prstGeom prst="rect">
            <a:avLst/>
          </a:prstGeom>
          <a:effectLst>
            <a:outerShdw blurRad="339042" dir="5400000">
              <a:srgbClr val="FF5412">
                <a:alpha val="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8763000" y="5803900"/>
            <a:ext cx="6858000" cy="6781800"/>
          </a:xfrm>
          <a:prstGeom prst="rect">
            <a:avLst/>
          </a:prstGeom>
          <a:effectLst>
            <a:outerShdw blurRad="339042" dir="5400000">
              <a:srgbClr val="FF5412">
                <a:alpha val="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5976600" y="5803900"/>
            <a:ext cx="6858000" cy="6781800"/>
          </a:xfrm>
          <a:prstGeom prst="rect">
            <a:avLst/>
          </a:prstGeom>
          <a:effectLst>
            <a:outerShdw blurRad="339042" dir="5400000">
              <a:srgbClr val="FF5412">
                <a:alpha val="5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0" y="6654800"/>
            <a:ext cx="2006600" cy="207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920000">
            <a:off x="2044700" y="6299200"/>
            <a:ext cx="2832100" cy="2832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38600" y="6819900"/>
            <a:ext cx="4267200" cy="1828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65300" y="2044700"/>
            <a:ext cx="12509500" cy="2514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학원의 </a:t>
            </a:r>
            <a:r>
              <a:rPr lang="en-US" sz="7733" b="0" i="0" u="none" strike="noStrike" spc="-200">
                <a:solidFill>
                  <a:srgbClr val="FF5412"/>
                </a:solidFill>
                <a:latin typeface="Pretendard SemiBold"/>
                <a:ea typeface="Pretendard SemiBold"/>
                <a:cs typeface="Pretendard SemiBold"/>
              </a:rPr>
              <a:t>핵심</a:t>
            </a: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을</a:t>
            </a:r>
          </a:p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적어주세요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86000" y="9448800"/>
            <a:ext cx="3327400" cy="927100"/>
          </a:xfrm>
          <a:prstGeom prst="rect">
            <a:avLst/>
          </a:prstGeom>
        </p:spPr>
        <p:txBody>
          <a:bodyPr lIns="0" tIns="79248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5200" b="0" i="0" u="none" strike="noStrike" spc="-2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 강점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86000" y="10617200"/>
            <a:ext cx="5880100" cy="120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학원의 핵심 강정을 설명해 주세요</a:t>
            </a:r>
          </a:p>
          <a:p>
            <a:pPr lvl="0" algn="l">
              <a:lnSpc>
                <a:spcPct val="116199"/>
              </a:lnSpc>
            </a:pPr>
            <a:r>
              <a:rPr lang="en-US" sz="2266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학원의 핵심 강정을 설명해 주세요</a:t>
            </a:r>
          </a:p>
          <a:p>
            <a:pPr lvl="0" algn="l">
              <a:lnSpc>
                <a:spcPct val="116199"/>
              </a:lnSpc>
            </a:pPr>
            <a:r>
              <a:rPr lang="en-US" sz="2266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학원의 핵심 강정을 설명해 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600" y="9448800"/>
            <a:ext cx="4673600" cy="927100"/>
          </a:xfrm>
          <a:prstGeom prst="rect">
            <a:avLst/>
          </a:prstGeom>
        </p:spPr>
        <p:txBody>
          <a:bodyPr lIns="0" tIns="79248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5200" b="0" i="0" u="none" strike="noStrike" spc="-2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 강점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600" y="10617200"/>
            <a:ext cx="5880100" cy="120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학원의 핵심 강정을 설명해 주세요
학원의 핵심 강정을 설명해 주세요
학원의 핵심 강정을 설명해 주세요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13200" y="9448800"/>
            <a:ext cx="4673600" cy="927100"/>
          </a:xfrm>
          <a:prstGeom prst="rect">
            <a:avLst/>
          </a:prstGeom>
        </p:spPr>
        <p:txBody>
          <a:bodyPr lIns="0" tIns="79248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5200" b="0" i="0" u="none" strike="noStrike" spc="-2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 강점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13200" y="10617200"/>
            <a:ext cx="5880100" cy="120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66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학원의 핵심 강정을 설명해 주세요
학원의 핵심 강정을 설명해 주세요
학원의 핵심 강정을 설명해 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82700" y="2679700"/>
            <a:ext cx="8940800" cy="838200"/>
          </a:xfrm>
          <a:prstGeom prst="rect">
            <a:avLst/>
          </a:prstGeom>
        </p:spPr>
        <p:txBody>
          <a:bodyPr lIns="0" tIns="14901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457" b="0" i="0" u="none" strike="noStrike">
                <a:solidFill>
                  <a:srgbClr val="000000"/>
                </a:solidFill>
                <a:latin typeface="Pretendard Thin"/>
                <a:ea typeface="Pretendard Thin"/>
                <a:cs typeface="Pretendard Thin"/>
              </a:rPr>
              <a:t>학원의 핵심 강점을 보여주는 페이지입니다. 유미니 상담을 통해 학부모님들에게 학원에서 얻을 수 있는 강점을 설정해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3800" y="9194800"/>
            <a:ext cx="7277100" cy="7277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6600" y="3619500"/>
            <a:ext cx="5740400" cy="55499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765300" y="2044700"/>
            <a:ext cx="12509500" cy="2514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학원의 </a:t>
            </a:r>
            <a:r>
              <a:rPr lang="en-US" sz="7733" b="0" i="0" u="none" strike="noStrike" spc="-200">
                <a:solidFill>
                  <a:srgbClr val="FC5230"/>
                </a:solidFill>
                <a:latin typeface="Pretendard SemiBold"/>
                <a:ea typeface="Pretendard SemiBold"/>
                <a:cs typeface="Pretendard SemiBold"/>
              </a:rPr>
              <a:t>주요 실적과 성장 사례</a:t>
            </a: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를</a:t>
            </a:r>
          </a:p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보여주세요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01800" y="2273300"/>
            <a:ext cx="9334500" cy="1079500"/>
          </a:xfrm>
          <a:prstGeom prst="rect">
            <a:avLst/>
          </a:prstGeom>
        </p:spPr>
        <p:txBody>
          <a:bodyPr lIns="0" tIns="14901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Thin"/>
                <a:ea typeface="Pretendard Thin"/>
                <a:cs typeface="Pretendard Thin"/>
              </a:rPr>
              <a:t>지금까지 달성한 구체적인 성과를 보여주며, 학원이 '실행력'을</a:t>
            </a:r>
          </a:p>
          <a:p>
            <a:pPr lvl="0" algn="l">
              <a:lnSpc>
                <a:spcPct val="107070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Thin"/>
                <a:ea typeface="Pretendard Thin"/>
                <a:cs typeface="Pretendard Thin"/>
              </a:rPr>
              <a:t>갖추고 있음을 증명하는 가장 중요한 페이지 중 하나입니다.</a:t>
            </a:r>
          </a:p>
          <a:p>
            <a:pPr lvl="0" algn="l">
              <a:lnSpc>
                <a:spcPct val="107070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Thin"/>
                <a:ea typeface="Pretendard Thin"/>
                <a:cs typeface="Pretendard Thin"/>
              </a:rPr>
              <a:t>지표는 반드시 그래프로 시각화하여 성장 추세를 한눈에 보여주세요.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2832100" y="5588000"/>
            <a:ext cx="18719800" cy="6896100"/>
          </a:xfrm>
          <a:prstGeom prst="rect">
            <a:avLst/>
          </a:prstGeom>
          <a:effectLst>
            <a:outerShdw blurRad="344520" dir="5400000">
              <a:srgbClr val="FF5412">
                <a:alpha val="5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3733800" y="5930900"/>
            <a:ext cx="16916400" cy="6197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85000" y="10744200"/>
            <a:ext cx="1346200" cy="1346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708400" y="6210300"/>
            <a:ext cx="2400300" cy="673100"/>
          </a:xfrm>
          <a:prstGeom prst="rect">
            <a:avLst/>
          </a:prstGeom>
        </p:spPr>
        <p:txBody>
          <a:bodyPr lIns="0" tIns="91440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3786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입시 성과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08400" y="7175500"/>
            <a:ext cx="9144000" cy="434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2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2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2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2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2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  <a:p>
            <a:pPr marL="342900" lvl="1" indent="-342900" algn="l">
              <a:lnSpc>
                <a:spcPct val="137780"/>
              </a:lnSpc>
              <a:buClr>
                <a:srgbClr val="000000"/>
              </a:buClr>
              <a:buFont typeface="Arial"/>
              <a:buChar char="●"/>
            </a:pPr>
            <a:r>
              <a:rPr lang="en-US" sz="352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입시 성과를 구체적으로 적어주세요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5811500" y="8407400"/>
            <a:ext cx="12915900" cy="900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612900" y="4419600"/>
            <a:ext cx="21170900" cy="8153400"/>
          </a:xfrm>
          <a:prstGeom prst="rect">
            <a:avLst/>
          </a:prstGeom>
          <a:effectLst>
            <a:outerShdw blurRad="407685" dir="5400000">
              <a:srgbClr val="FF5412">
                <a:alpha val="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4400" y="6502400"/>
            <a:ext cx="4902200" cy="109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00" y="6794500"/>
            <a:ext cx="647700" cy="520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5387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22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990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200" y="8178800"/>
            <a:ext cx="1244600" cy="520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1036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766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54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68700" y="67310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01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08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
학습체계를 구체적으로 적어주세요
학습체계를 구체적으로 적어주세요
학습체계를 구체적으로 적어주세요
학습체계를 구체적으로 적어주세요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051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
학습체계를 구체적으로 적어주세요
학습체계를 구체적으로 적어주세요
학습체계를 구체적으로 적어주세요
학습체계를 구체적으로 적어주세요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07000" y="82423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5300" y="2044700"/>
            <a:ext cx="13639800" cy="1371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학원의 </a:t>
            </a:r>
            <a:r>
              <a:rPr lang="en-US" sz="7733" b="0" i="0" u="none" strike="noStrike" spc="-200">
                <a:solidFill>
                  <a:srgbClr val="FC5230"/>
                </a:solidFill>
                <a:latin typeface="Pretendard SemiBold"/>
                <a:ea typeface="Pretendard SemiBold"/>
                <a:cs typeface="Pretendard SemiBold"/>
              </a:rPr>
              <a:t>반구성과 학습 체계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1600" y="8178800"/>
            <a:ext cx="1244600" cy="520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1582400" y="82296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95900" y="8178800"/>
            <a:ext cx="1244600" cy="5207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8046700" y="82296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7900" y="6502400"/>
            <a:ext cx="4902200" cy="10922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982200" y="67310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0" y="6477000"/>
            <a:ext cx="4902200" cy="1092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3568700" y="67056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53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FF5412"/>
                </a:solidFill>
                <a:latin typeface="NEXON Lv2 Gothic Bold"/>
                <a:ea typeface="NEXON Lv2 Gothic Bold"/>
                <a:cs typeface="NEXON Lv2 Gothic Bold"/>
              </a:rPr>
              <a:t>초등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5811500" y="8407400"/>
            <a:ext cx="12915900" cy="900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612900" y="4419600"/>
            <a:ext cx="21170900" cy="8153400"/>
          </a:xfrm>
          <a:prstGeom prst="rect">
            <a:avLst/>
          </a:prstGeom>
          <a:effectLst>
            <a:outerShdw blurRad="407685" dir="5400000">
              <a:srgbClr val="FF5412">
                <a:alpha val="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4400" y="6502400"/>
            <a:ext cx="4902200" cy="109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00" y="6794500"/>
            <a:ext cx="647700" cy="520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5387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22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990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200" y="8178800"/>
            <a:ext cx="1244600" cy="520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1036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766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54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68700" y="67310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01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08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
학습체계를 구체적으로 적어주세요
학습체계를 구체적으로 적어주세요
학습체계를 구체적으로 적어주세요
학습체계를 구체적으로 적어주세요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051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
학습체계를 구체적으로 적어주세요
학습체계를 구체적으로 적어주세요
학습체계를 구체적으로 적어주세요
학습체계를 구체적으로 적어주세요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07000" y="82423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5300" y="2044700"/>
            <a:ext cx="13639800" cy="1371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학원의 </a:t>
            </a:r>
            <a:r>
              <a:rPr lang="en-US" sz="7733" b="0" i="0" u="none" strike="noStrike" spc="-200">
                <a:solidFill>
                  <a:srgbClr val="FC5230"/>
                </a:solidFill>
                <a:latin typeface="Pretendard SemiBold"/>
                <a:ea typeface="Pretendard SemiBold"/>
                <a:cs typeface="Pretendard SemiBold"/>
              </a:rPr>
              <a:t>반구성과 학습 체계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1600" y="8178800"/>
            <a:ext cx="1244600" cy="520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1582400" y="82296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95900" y="8178800"/>
            <a:ext cx="1244600" cy="5207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8046700" y="82296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7900" y="6502400"/>
            <a:ext cx="4902200" cy="10922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982200" y="67310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7100" y="6477000"/>
            <a:ext cx="4902200" cy="1092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3568700" y="67056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53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FF5412"/>
                </a:solidFill>
                <a:latin typeface="NEXON Lv2 Gothic Bold"/>
                <a:ea typeface="NEXON Lv2 Gothic Bold"/>
                <a:cs typeface="NEXON Lv2 Gothic Bold"/>
              </a:rPr>
              <a:t>중등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5811500" y="8407400"/>
            <a:ext cx="12915900" cy="9004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612900" y="4419600"/>
            <a:ext cx="21170900" cy="8153400"/>
          </a:xfrm>
          <a:prstGeom prst="rect">
            <a:avLst/>
          </a:prstGeom>
          <a:effectLst>
            <a:outerShdw blurRad="407685" dir="5400000">
              <a:srgbClr val="FF5412">
                <a:alpha val="5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4400" y="6502400"/>
            <a:ext cx="4902200" cy="1092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9300" y="6794500"/>
            <a:ext cx="647700" cy="5207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5387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22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99000" y="5486400"/>
            <a:ext cx="214630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66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Phase 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200" y="8178800"/>
            <a:ext cx="1244600" cy="520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1036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766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54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</a:t>
            </a:r>
          </a:p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268700" y="67310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0100" y="5499100"/>
            <a:ext cx="500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 레벨을 설명해 주세요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08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
학습체계를 구체적으로 적어주세요
학습체계를 구체적으로 적어주세요
학습체계를 구체적으로 적어주세요
학습체계를 구체적으로 적어주세요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05100" y="8940800"/>
            <a:ext cx="6426200" cy="2349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0350"/>
              </a:lnSpc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학습체계를 구체적으로 적어주세요
학습체계를 구체적으로 적어주세요
학습체계를 구체적으로 적어주세요
학습체계를 구체적으로 적어주세요
학습체계를 구체적으로 적어주세요
학습체계를 구체적으로 적어주세요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07000" y="82423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5300" y="2044700"/>
            <a:ext cx="13639800" cy="1371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학원의 </a:t>
            </a:r>
            <a:r>
              <a:rPr lang="en-US" sz="7733" b="0" i="0" u="none" strike="noStrike" spc="-200">
                <a:solidFill>
                  <a:srgbClr val="FC5230"/>
                </a:solidFill>
                <a:latin typeface="Pretendard SemiBold"/>
                <a:ea typeface="Pretendard SemiBold"/>
                <a:cs typeface="Pretendard SemiBold"/>
              </a:rPr>
              <a:t>반구성과 학습 체계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1600" y="8178800"/>
            <a:ext cx="1244600" cy="5207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1582400" y="82296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95900" y="8178800"/>
            <a:ext cx="1244600" cy="5207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8046700" y="8229600"/>
            <a:ext cx="1130300" cy="381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1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학습 체계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7900" y="6502400"/>
            <a:ext cx="4902200" cy="10922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9982200" y="67310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0" y="6477000"/>
            <a:ext cx="4902200" cy="10922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3568700" y="6705600"/>
            <a:ext cx="4686300" cy="59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3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 이름을 적어주세요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5300" y="1587500"/>
            <a:ext cx="5664200" cy="520700"/>
          </a:xfrm>
          <a:prstGeom prst="rect">
            <a:avLst/>
          </a:prstGeom>
        </p:spPr>
        <p:txBody>
          <a:bodyPr lIns="0" tIns="55879" rIns="0" bIns="55879" rtlCol="0" anchor="ctr"/>
          <a:lstStyle/>
          <a:p>
            <a:pPr lvl="0" algn="l">
              <a:lnSpc>
                <a:spcPct val="91299"/>
              </a:lnSpc>
            </a:pPr>
            <a:r>
              <a:rPr lang="en-US" sz="2933" b="0" i="0" u="none" strike="noStrike">
                <a:solidFill>
                  <a:srgbClr val="FF5412"/>
                </a:solidFill>
                <a:latin typeface="NEXON Lv2 Gothic Bold"/>
                <a:ea typeface="NEXON Lv2 Gothic Bold"/>
                <a:cs typeface="NEXON Lv2 Gothic Bold"/>
              </a:rPr>
              <a:t>고등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3000" y="5930900"/>
            <a:ext cx="5829300" cy="5829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9100" y="0"/>
            <a:ext cx="4940300" cy="4940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790700" y="4584700"/>
            <a:ext cx="21412200" cy="8166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90700" y="1511300"/>
            <a:ext cx="12509500" cy="2514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학원의</a:t>
            </a:r>
          </a:p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FC5230"/>
                </a:solidFill>
                <a:latin typeface="Pretendard SemiBold"/>
                <a:ea typeface="Pretendard SemiBold"/>
                <a:cs typeface="Pretendard SemiBold"/>
              </a:rPr>
              <a:t>시간표</a:t>
            </a: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를 알려주세요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921000" y="5334000"/>
          <a:ext cx="19156352" cy="6671390"/>
        </p:xfrm>
        <a:graphic>
          <a:graphicData uri="http://schemas.openxmlformats.org/drawingml/2006/table">
            <a:tbl>
              <a:tblPr/>
              <a:tblGrid>
                <a:gridCol w="2393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3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3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3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52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0407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9747" marB="7974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월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화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수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목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금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토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634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일</a:t>
                      </a:r>
                      <a:endParaRPr lang="en-US" sz="1100"/>
                    </a:p>
                  </a:txBody>
                  <a:tcPr marL="25400" marR="25400" marT="74752" marB="74752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682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43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2743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적어주세요</a:t>
                      </a:r>
                    </a:p>
                  </a:txBody>
                  <a:tcPr marL="25400" marR="25400" marT="76791" marB="76791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76791" marB="76791"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682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682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6828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736" b="0" i="0" u="none" strike="noStrike">
                          <a:solidFill>
                            <a:srgbClr val="000000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상세한 시간을
적어주세요</a:t>
                      </a:r>
                      <a:endParaRPr lang="en-US" sz="1100"/>
                    </a:p>
                  </a:txBody>
                  <a:tcPr marL="25400" marR="25400" marT="76656" marB="766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0998200"/>
            <a:ext cx="2032000" cy="2044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0" y="4457700"/>
            <a:ext cx="4686300" cy="1460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6000" y="7239000"/>
            <a:ext cx="4686300" cy="4572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903200" y="8712200"/>
            <a:ext cx="37592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4605000" y="6261100"/>
            <a:ext cx="3556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700" y="4457700"/>
            <a:ext cx="4686300" cy="1460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700" y="7239000"/>
            <a:ext cx="4686300" cy="457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721600" y="8712200"/>
            <a:ext cx="37592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9410700" y="6261100"/>
            <a:ext cx="355600" cy="685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4457700"/>
            <a:ext cx="4686300" cy="146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7239000"/>
            <a:ext cx="4686300" cy="4572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527300" y="8712200"/>
            <a:ext cx="37592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4229100" y="6261100"/>
            <a:ext cx="355600" cy="685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0300" y="4457700"/>
            <a:ext cx="4686300" cy="1460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0300" y="7239000"/>
            <a:ext cx="4686300" cy="4572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8097500" y="8712200"/>
            <a:ext cx="37592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9799300" y="6261100"/>
            <a:ext cx="355600" cy="685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alphaModFix amt="30000"/>
          </a:blip>
          <a:stretch>
            <a:fillRect/>
          </a:stretch>
        </p:blipFill>
        <p:spPr>
          <a:xfrm rot="11700000">
            <a:off x="14630400" y="-3670300"/>
            <a:ext cx="6934200" cy="68199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765300" y="2044700"/>
            <a:ext cx="15201900" cy="1371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학원의 </a:t>
            </a:r>
            <a:r>
              <a:rPr lang="en-US" sz="7733" b="0" i="0" u="none" strike="noStrike" spc="-200">
                <a:solidFill>
                  <a:srgbClr val="FC5230"/>
                </a:solidFill>
                <a:latin typeface="Pretendard SemiBold"/>
                <a:ea typeface="Pretendard SemiBold"/>
                <a:cs typeface="Pretendard SemiBold"/>
              </a:rPr>
              <a:t>학습 관리 시스템</a:t>
            </a: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을 적어주세요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3800" y="4851400"/>
            <a:ext cx="43180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866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성취도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36500" y="7734300"/>
            <a:ext cx="42926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3200" b="0" i="0" u="none" strike="noStrike" spc="-10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한 줄로 정의해주세요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42200" y="4826000"/>
            <a:ext cx="43180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866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과제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54900" y="7734300"/>
            <a:ext cx="42926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3200" b="0" i="0" u="none" strike="noStrike" spc="-10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한 줄로 정의해주세요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47900" y="4851400"/>
            <a:ext cx="43180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866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출결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78100" y="9144000"/>
            <a:ext cx="42545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60600" y="7734300"/>
            <a:ext cx="42926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3200" b="0" i="0" u="none" strike="noStrike" spc="-10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한 줄로 정의해주세요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18100" y="4851400"/>
            <a:ext cx="43180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866" b="0" i="0" u="none" strike="noStrike" spc="-1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상담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830800" y="7734300"/>
            <a:ext cx="42926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3200" b="0" i="0" u="none" strike="noStrike" spc="-100">
                <a:solidFill>
                  <a:srgbClr val="222222"/>
                </a:solidFill>
                <a:latin typeface="Pretendard Regular"/>
                <a:ea typeface="Pretendard Regular"/>
                <a:cs typeface="Pretendard Regular"/>
              </a:rPr>
              <a:t>한 줄로 정의해주세요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721600" y="9144000"/>
            <a:ext cx="42545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966700" y="9144000"/>
            <a:ext cx="42545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161000" y="9144000"/>
            <a:ext cx="4254500" cy="177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  <a:p>
            <a:pPr marL="342900" lvl="1" indent="-342900" algn="l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66" b="0" i="0" u="none" strike="noStrike" spc="-100">
                <a:solidFill>
                  <a:srgbClr val="222222"/>
                </a:solidFill>
                <a:latin typeface="Pretendard ExtraLight"/>
                <a:ea typeface="Pretendard ExtraLight"/>
                <a:cs typeface="Pretendard ExtraLight"/>
              </a:rPr>
              <a:t>구체적인 설명을 적어주세요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4200" y="9321800"/>
            <a:ext cx="7683500" cy="7378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5803900"/>
            <a:ext cx="6083300" cy="7035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>
            <a:off x="2336800" y="5803900"/>
            <a:ext cx="6083300" cy="7035800"/>
          </a:xfrm>
          <a:prstGeom prst="rect">
            <a:avLst/>
          </a:prstGeom>
          <a:effectLst>
            <a:outerShdw blurRad="303870" dir="5400000">
              <a:srgbClr val="FF5412">
                <a:alpha val="5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600" y="6172200"/>
            <a:ext cx="8636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9156700" y="5041900"/>
            <a:ext cx="6083300" cy="7035800"/>
          </a:xfrm>
          <a:prstGeom prst="rect">
            <a:avLst/>
          </a:prstGeom>
          <a:effectLst>
            <a:outerShdw blurRad="303870" dir="5400000">
              <a:srgbClr val="FF5412">
                <a:alpha val="5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57300" y="5473700"/>
            <a:ext cx="8636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38500" y="5803900"/>
            <a:ext cx="6083300" cy="7035800"/>
          </a:xfrm>
          <a:prstGeom prst="rect">
            <a:avLst/>
          </a:prstGeom>
          <a:effectLst>
            <a:outerShdw blurRad="303870" dir="5400000">
              <a:srgbClr val="FF5412">
                <a:alpha val="5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8000" y="6172200"/>
            <a:ext cx="8636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5000" y="5829300"/>
            <a:ext cx="2489200" cy="256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41900" y="6527800"/>
            <a:ext cx="2463800" cy="2387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137400" y="6324600"/>
            <a:ext cx="102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81100" y="5626100"/>
            <a:ext cx="102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39100" y="6324600"/>
            <a:ext cx="102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5300" y="2044700"/>
            <a:ext cx="12509500" cy="2514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학원의 </a:t>
            </a:r>
            <a:r>
              <a:rPr lang="en-US" sz="7733" b="0" i="0" u="none" strike="noStrike" spc="-200">
                <a:solidFill>
                  <a:srgbClr val="FC5230"/>
                </a:solidFill>
                <a:latin typeface="Pretendard SemiBold"/>
                <a:ea typeface="Pretendard SemiBold"/>
                <a:cs typeface="Pretendard SemiBold"/>
              </a:rPr>
              <a:t>특별 프로그램</a:t>
            </a: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을</a:t>
            </a:r>
          </a:p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적어주세요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90800" y="9309100"/>
            <a:ext cx="55880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핵심 프로그램명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63800" y="10363200"/>
            <a:ext cx="5829300" cy="170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세부적인 설명을 적어주세요</a:t>
            </a:r>
          </a:p>
          <a:p>
            <a:pPr lvl="0" algn="ctr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세부적인 설명을 적어주세요</a:t>
            </a:r>
          </a:p>
          <a:p>
            <a:pPr lvl="0" algn="ctr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세부적인 설명을 적어주세요</a:t>
            </a:r>
          </a:p>
          <a:p>
            <a:pPr lvl="0" algn="ctr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세부적인 설명을 적어주세요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98000" y="8788400"/>
            <a:ext cx="55880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핵심 프로그램명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1000" y="9842500"/>
            <a:ext cx="58420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000000"/>
                </a:solidFill>
                <a:latin typeface="Pretendard ExtraLight"/>
                <a:ea typeface="Pretendard ExtraLight"/>
                <a:cs typeface="Pretendard ExtraLight"/>
              </a:rPr>
              <a:t>세부적인 설명을 적어주세요
세부적인 설명을 적어주세요
세부적인 설명을 적어주세요
세부적인 설명을 적어주세요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92500" y="9309100"/>
            <a:ext cx="55880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핵심 프로그램명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065500" y="10363200"/>
            <a:ext cx="5842000" cy="180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FFFFFF"/>
                </a:solidFill>
                <a:latin typeface="Pretendard ExtraLight"/>
                <a:ea typeface="Pretendard ExtraLight"/>
                <a:cs typeface="Pretendard ExtraLight"/>
              </a:rPr>
              <a:t>세부적인 설명을 적어주세요
세부적인 설명을 적어주세요
세부적인 설명을 적어주세요
세부적인 설명을 적어주세요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500000">
            <a:off x="18961100" y="6985000"/>
            <a:ext cx="7607300" cy="7607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9700" y="-635000"/>
            <a:ext cx="2032000" cy="204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40000">
            <a:off x="-1841500" y="5321300"/>
            <a:ext cx="10680700" cy="1068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0" y="850900"/>
            <a:ext cx="11430000" cy="2044700"/>
          </a:xfrm>
          <a:prstGeom prst="rect">
            <a:avLst/>
          </a:prstGeom>
          <a:effectLst>
            <a:outerShdw blurRad="102347" dir="5400000">
              <a:srgbClr val="FF5412">
                <a:alpha val="5000"/>
              </a:srgbClr>
            </a:outerShdw>
          </a:effectLst>
        </p:spPr>
      </p:pic>
      <p:sp>
        <p:nvSpPr>
          <p:cNvPr id="6" name="TextBox 6"/>
          <p:cNvSpPr txBox="1"/>
          <p:nvPr/>
        </p:nvSpPr>
        <p:spPr>
          <a:xfrm>
            <a:off x="11404600" y="1219200"/>
            <a:ext cx="7759700" cy="711200"/>
          </a:xfrm>
          <a:prstGeom prst="rect">
            <a:avLst/>
          </a:prstGeom>
        </p:spPr>
        <p:txBody>
          <a:bodyPr lIns="0" tIns="61350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402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질문의 내용을 적어주세요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47700" y="2184400"/>
            <a:ext cx="8255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317" b="0" i="0" u="none" strike="noStrike">
                <a:solidFill>
                  <a:srgbClr val="000000">
                    <a:alpha val="80000"/>
                  </a:srgbClr>
                </a:solidFill>
                <a:latin typeface="Pretendard ExtraLight"/>
                <a:ea typeface="Pretendard ExtraLight"/>
                <a:cs typeface="Pretendard ExtraLight"/>
              </a:rPr>
              <a:t>질문에 대한 상세한 답변을 적어주세요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8300" y="2120900"/>
            <a:ext cx="9220200" cy="2603500"/>
          </a:xfrm>
          <a:prstGeom prst="rect">
            <a:avLst/>
          </a:prstGeom>
        </p:spPr>
        <p:txBody>
          <a:bodyPr lIns="0" tIns="121920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8000" b="0" i="0" u="none" strike="noStrike" spc="-200">
                <a:solidFill>
                  <a:srgbClr val="FC5230"/>
                </a:solidFill>
                <a:latin typeface="Pretendard SemiBold"/>
                <a:ea typeface="Pretendard SemiBold"/>
                <a:cs typeface="Pretendard SemiBold"/>
              </a:rPr>
              <a:t>Q&amp;A</a:t>
            </a:r>
          </a:p>
          <a:p>
            <a:pPr lvl="0" algn="l">
              <a:lnSpc>
                <a:spcPct val="96279"/>
              </a:lnSpc>
            </a:pPr>
            <a:r>
              <a:rPr lang="en-US" sz="8000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궁금한 점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0" y="3365500"/>
            <a:ext cx="11430000" cy="2044700"/>
          </a:xfrm>
          <a:prstGeom prst="rect">
            <a:avLst/>
          </a:prstGeom>
          <a:effectLst>
            <a:outerShdw blurRad="102347" dir="5400000">
              <a:srgbClr val="FF5412">
                <a:alpha val="5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11404600" y="3721100"/>
            <a:ext cx="7759700" cy="711200"/>
          </a:xfrm>
          <a:prstGeom prst="rect">
            <a:avLst/>
          </a:prstGeom>
        </p:spPr>
        <p:txBody>
          <a:bodyPr lIns="0" tIns="61350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402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질문의 내용을 적어주세요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47700" y="4699000"/>
            <a:ext cx="8255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317" b="0" i="0" u="none" strike="noStrike">
                <a:solidFill>
                  <a:srgbClr val="000000">
                    <a:alpha val="80000"/>
                  </a:srgbClr>
                </a:solidFill>
                <a:latin typeface="Pretendard ExtraLight"/>
                <a:ea typeface="Pretendard ExtraLight"/>
                <a:cs typeface="Pretendard ExtraLight"/>
              </a:rPr>
              <a:t>질문에 대한 상세한 답변을 적어주세요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0" y="5829300"/>
            <a:ext cx="11430000" cy="2044700"/>
          </a:xfrm>
          <a:prstGeom prst="rect">
            <a:avLst/>
          </a:prstGeom>
          <a:effectLst>
            <a:outerShdw blurRad="102347" dir="5400000">
              <a:srgbClr val="FF5412">
                <a:alpha val="5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11404600" y="6197600"/>
            <a:ext cx="7759700" cy="711200"/>
          </a:xfrm>
          <a:prstGeom prst="rect">
            <a:avLst/>
          </a:prstGeom>
        </p:spPr>
        <p:txBody>
          <a:bodyPr lIns="0" tIns="61350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402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질문의 내용을 적어주세요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47700" y="7175500"/>
            <a:ext cx="8255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317" b="0" i="0" u="none" strike="noStrike">
                <a:solidFill>
                  <a:srgbClr val="000000">
                    <a:alpha val="80000"/>
                  </a:srgbClr>
                </a:solidFill>
                <a:latin typeface="Pretendard ExtraLight"/>
                <a:ea typeface="Pretendard ExtraLight"/>
                <a:cs typeface="Pretendard ExtraLight"/>
              </a:rPr>
              <a:t>질문에 대한 상세한 답변을 적어주세요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0668000" y="8305800"/>
            <a:ext cx="11430000" cy="2044700"/>
          </a:xfrm>
          <a:prstGeom prst="rect">
            <a:avLst/>
          </a:prstGeom>
          <a:effectLst>
            <a:outerShdw blurRad="102347" dir="5400000">
              <a:srgbClr val="FF5412">
                <a:alpha val="5000"/>
              </a:srgbClr>
            </a:outerShdw>
          </a:effectLst>
        </p:spPr>
      </p:pic>
      <p:sp>
        <p:nvSpPr>
          <p:cNvPr id="16" name="TextBox 16"/>
          <p:cNvSpPr txBox="1"/>
          <p:nvPr/>
        </p:nvSpPr>
        <p:spPr>
          <a:xfrm>
            <a:off x="11391900" y="8674100"/>
            <a:ext cx="7759700" cy="711200"/>
          </a:xfrm>
          <a:prstGeom prst="rect">
            <a:avLst/>
          </a:prstGeom>
        </p:spPr>
        <p:txBody>
          <a:bodyPr lIns="0" tIns="61350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402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질문의 내용을 적어주세요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35000" y="9639300"/>
            <a:ext cx="8255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317" b="0" i="0" u="none" strike="noStrike">
                <a:solidFill>
                  <a:srgbClr val="000000">
                    <a:alpha val="80000"/>
                  </a:srgbClr>
                </a:solidFill>
                <a:latin typeface="Pretendard ExtraLight"/>
                <a:ea typeface="Pretendard ExtraLight"/>
                <a:cs typeface="Pretendard ExtraLight"/>
              </a:rPr>
              <a:t>질문에 대한 상세한 답변을 적어주세요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0668000" y="10820400"/>
            <a:ext cx="11430000" cy="2044700"/>
          </a:xfrm>
          <a:prstGeom prst="rect">
            <a:avLst/>
          </a:prstGeom>
          <a:effectLst>
            <a:outerShdw blurRad="102347" dir="5400000">
              <a:srgbClr val="FF5412">
                <a:alpha val="5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11391900" y="11188700"/>
            <a:ext cx="7759700" cy="711200"/>
          </a:xfrm>
          <a:prstGeom prst="rect">
            <a:avLst/>
          </a:prstGeom>
        </p:spPr>
        <p:txBody>
          <a:bodyPr lIns="0" tIns="61350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4025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질문의 내용을 적어주세요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35000" y="12153900"/>
            <a:ext cx="82550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317" b="0" i="0" u="none" strike="noStrike">
                <a:solidFill>
                  <a:srgbClr val="000000">
                    <a:alpha val="80000"/>
                  </a:srgbClr>
                </a:solidFill>
                <a:latin typeface="Pretendard ExtraLight"/>
                <a:ea typeface="Pretendard ExtraLight"/>
                <a:cs typeface="Pretendard ExtraLight"/>
              </a:rPr>
              <a:t>질문에 대한 상세한 답변을 적어주세요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9000" y="9652000"/>
            <a:ext cx="8229600" cy="8140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8872200" y="-2425700"/>
            <a:ext cx="6654800" cy="665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800" y="5994400"/>
            <a:ext cx="6464300" cy="640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2743200" y="7962900"/>
            <a:ext cx="49149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0" y="10553700"/>
            <a:ext cx="5041900" cy="1358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0000" y="5994400"/>
            <a:ext cx="6464300" cy="640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690100" y="7962900"/>
            <a:ext cx="4914900" cy="12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10553700"/>
            <a:ext cx="5041900" cy="135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0" y="5994400"/>
            <a:ext cx="6464300" cy="640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6522700" y="7962900"/>
            <a:ext cx="49149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59200" y="10553700"/>
            <a:ext cx="5041900" cy="1358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8800" y="6731000"/>
            <a:ext cx="736600" cy="609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68400" y="6731000"/>
            <a:ext cx="736600" cy="609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688300" y="6731000"/>
            <a:ext cx="736600" cy="609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743200" y="6591300"/>
            <a:ext cx="3149600" cy="850900"/>
          </a:xfrm>
          <a:prstGeom prst="rect">
            <a:avLst/>
          </a:prstGeom>
        </p:spPr>
        <p:txBody>
          <a:bodyPr lIns="0" tIns="73152" rIns="0" bIns="73152" rtlCol="0" anchor="ctr"/>
          <a:lstStyle/>
          <a:p>
            <a:pPr lvl="0" algn="l">
              <a:lnSpc>
                <a:spcPct val="96279"/>
              </a:lnSpc>
            </a:pPr>
            <a:r>
              <a:rPr lang="en-US" sz="4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상담 전화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009900" y="10731500"/>
            <a:ext cx="4381500" cy="9652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상담 전화번호를</a:t>
            </a:r>
          </a:p>
          <a:p>
            <a:pPr lvl="0" algn="ctr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적어주세요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64700" y="6591300"/>
            <a:ext cx="4025900" cy="850900"/>
          </a:xfrm>
          <a:prstGeom prst="rect">
            <a:avLst/>
          </a:prstGeom>
        </p:spPr>
        <p:txBody>
          <a:bodyPr lIns="0" tIns="73152" rIns="0" bIns="73152" rtlCol="0" anchor="ctr"/>
          <a:lstStyle/>
          <a:p>
            <a:pPr lvl="0" algn="l">
              <a:lnSpc>
                <a:spcPct val="96279"/>
              </a:lnSpc>
            </a:pPr>
            <a:r>
              <a:rPr lang="en-US" sz="4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카카오톡 채널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41000" y="10731500"/>
            <a:ext cx="3136900" cy="9652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카카오톡 채널을</a:t>
            </a:r>
          </a:p>
          <a:p>
            <a:pPr lvl="0" algn="ctr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적어주세요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535400" y="6591300"/>
            <a:ext cx="3149600" cy="850900"/>
          </a:xfrm>
          <a:prstGeom prst="rect">
            <a:avLst/>
          </a:prstGeom>
        </p:spPr>
        <p:txBody>
          <a:bodyPr lIns="0" tIns="73152" rIns="0" bIns="73152" rtlCol="0" anchor="ctr"/>
          <a:lstStyle/>
          <a:p>
            <a:pPr lvl="0" algn="l">
              <a:lnSpc>
                <a:spcPct val="96279"/>
              </a:lnSpc>
            </a:pPr>
            <a:r>
              <a:rPr lang="en-US" sz="4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오시는 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45000" y="10731500"/>
            <a:ext cx="3670300" cy="965200"/>
          </a:xfrm>
          <a:prstGeom prst="rect">
            <a:avLst/>
          </a:prstGeom>
        </p:spPr>
        <p:txBody>
          <a:bodyPr lIns="0" tIns="3725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주소를</a:t>
            </a:r>
          </a:p>
          <a:p>
            <a:pPr lvl="0" algn="ctr">
              <a:lnSpc>
                <a:spcPct val="9960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적어주세요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38300" y="2044700"/>
            <a:ext cx="12509500" cy="1371600"/>
          </a:xfrm>
          <a:prstGeom prst="rect">
            <a:avLst/>
          </a:prstGeom>
        </p:spPr>
        <p:txBody>
          <a:bodyPr lIns="0" tIns="117855" rIns="0" bIns="0" rtlCol="0" anchor="t"/>
          <a:lstStyle/>
          <a:p>
            <a:pPr lvl="0" algn="l">
              <a:lnSpc>
                <a:spcPct val="96279"/>
              </a:lnSpc>
            </a:pPr>
            <a:r>
              <a:rPr lang="en-US" sz="7733" b="0" i="0" u="none" strike="noStrike" spc="-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학원의 등록 안내를 적어주세요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39900" y="3733800"/>
            <a:ext cx="14973300" cy="10033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933" b="0" i="0" u="none" strike="noStrike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학원의 입학 절차를 적어주세요  학원의 입학 절차를 적어주세요  학원의 입학 절차를 적어주세요</a:t>
            </a:r>
          </a:p>
          <a:p>
            <a:pPr lvl="0" algn="l">
              <a:lnSpc>
                <a:spcPct val="107070"/>
              </a:lnSpc>
            </a:pPr>
            <a:r>
              <a:rPr lang="en-US" sz="2933" b="0" i="0" u="none" strike="noStrike">
                <a:solidFill>
                  <a:srgbClr val="FFFFFF">
                    <a:alpha val="80000"/>
                  </a:srgbClr>
                </a:solidFill>
                <a:latin typeface="Pretendard Regular"/>
                <a:ea typeface="Pretendard Regular"/>
                <a:cs typeface="Pretendard Regular"/>
              </a:rPr>
              <a:t>학원의 입학 절차를 적어주세요  학원의 입학 절차를 적어주세요  학원의 입학 절차를 적어주세요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8445500"/>
            <a:ext cx="1358900" cy="1320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66500" y="8331200"/>
            <a:ext cx="1447800" cy="14351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75300" y="8369300"/>
            <a:ext cx="1397000" cy="139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</Words>
  <Application>Microsoft Office PowerPoint</Application>
  <PresentationFormat>사용자 지정</PresentationFormat>
  <Paragraphs>178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NEXON Lv2 Gothic Bold</vt:lpstr>
      <vt:lpstr>Pretendard Light</vt:lpstr>
      <vt:lpstr>Arial</vt:lpstr>
      <vt:lpstr>Pretendard Thin</vt:lpstr>
      <vt:lpstr>Pretendard SemiBold</vt:lpstr>
      <vt:lpstr>Pretendard Regular</vt:lpstr>
      <vt:lpstr>Pretendard ExtraLight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ave</dc:creator>
  <cp:lastModifiedBy>ave</cp:lastModifiedBy>
  <cp:revision>2</cp:revision>
  <dcterms:created xsi:type="dcterms:W3CDTF">2006-08-16T00:00:00Z</dcterms:created>
  <dcterms:modified xsi:type="dcterms:W3CDTF">2026-06-26T10:27:11Z</dcterms:modified>
</cp:coreProperties>
</file>