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3" r:id="rId3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391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2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1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33481" t="2205" b="27954"/>
          <a:stretch/>
        </p:blipFill>
        <p:spPr>
          <a:xfrm>
            <a:off x="44450" y="12700"/>
            <a:ext cx="4756150" cy="10058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6451600"/>
            <a:ext cx="952500" cy="952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98100" y="68834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6616700"/>
            <a:ext cx="711200" cy="711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058400" y="75184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400" y="6451600"/>
            <a:ext cx="952500" cy="952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557000" y="68834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200" y="6718300"/>
            <a:ext cx="5969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404600" y="75057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6451600"/>
            <a:ext cx="952500" cy="952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915900" y="68834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6692900"/>
            <a:ext cx="6223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750800" y="75057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91900" y="8343900"/>
            <a:ext cx="10541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333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31500" y="8610600"/>
            <a:ext cx="23368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2700" y="9461500"/>
            <a:ext cx="952500" cy="35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0" y="0"/>
            <a:ext cx="4813300" cy="10096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900" y="0"/>
            <a:ext cx="4813300" cy="10096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283200" y="5080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199" b="0" i="0" u="none" strike="noStrike" spc="2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9700" y="7620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alphaModFix amt="7000"/>
          </a:blip>
          <a:stretch>
            <a:fillRect/>
          </a:stretch>
        </p:blipFill>
        <p:spPr>
          <a:xfrm>
            <a:off x="5245100" y="1612900"/>
            <a:ext cx="3898900" cy="901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441700" y="508000"/>
            <a:ext cx="7505700" cy="313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5359400" y="1828800"/>
            <a:ext cx="6858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18200" y="19177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93000" y="1943100"/>
            <a:ext cx="13589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홈페이지 · 전화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>
            <a:off x="5245100" y="2667000"/>
            <a:ext cx="3898900" cy="901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410200" y="28575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5359400" y="28702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18200" y="29464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진단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6800" y="2971800"/>
            <a:ext cx="14351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과목별 진단 테스트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>
            <a:off x="5245100" y="3695700"/>
            <a:ext cx="3898900" cy="901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410200" y="38989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5359400" y="39116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18200" y="39878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0" y="40132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담임 및 반 배정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83200" y="5067300"/>
            <a:ext cx="2324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32400" y="53213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상담</a:t>
            </a:r>
            <a:r>
              <a:rPr lang="en-US" sz="2000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lang="en-US" sz="2000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예약 안내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45100" y="6108700"/>
            <a:ext cx="3784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466" b="0" i="0" u="none" strike="noStrike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5100" y="6565900"/>
            <a:ext cx="3911600" cy="635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3733800" y="482600"/>
            <a:ext cx="6934200" cy="1280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5473700" y="6743700"/>
            <a:ext cx="3403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 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@sungjang-academy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5245100" y="7327900"/>
            <a:ext cx="1892300" cy="21717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7251700" y="7327900"/>
            <a:ext cx="1892300" cy="217170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1714500" y="2006600"/>
            <a:ext cx="12954000" cy="1278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1800" y="7493000"/>
            <a:ext cx="330200" cy="3302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50100" y="7416800"/>
            <a:ext cx="914400" cy="4826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5930900" y="75311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3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74000" y="75438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6100" y="7950200"/>
            <a:ext cx="1104900" cy="1104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32700" y="7950200"/>
            <a:ext cx="1104900" cy="11049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5410200" y="91567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73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60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29500" y="9156700"/>
            <a:ext cx="1536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5300" y="5334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1651000"/>
            <a:ext cx="3886200" cy="1054100"/>
          </a:xfrm>
          <a:prstGeom prst="rect">
            <a:avLst/>
          </a:prstGeom>
        </p:spPr>
      </p:pic>
      <p:sp>
        <p:nvSpPr>
          <p:cNvPr id="58" name="TextBox 58"/>
          <p:cNvSpPr txBox="1"/>
          <p:nvPr/>
        </p:nvSpPr>
        <p:spPr>
          <a:xfrm>
            <a:off x="508000" y="342900"/>
            <a:ext cx="3771900" cy="367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9" name="TextBox 59"/>
          <p:cNvSpPr txBox="1"/>
          <p:nvPr/>
        </p:nvSpPr>
        <p:spPr>
          <a:xfrm>
            <a:off x="622300" y="18415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한 과목만 등록할 수 있나요?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01700" y="21209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가능합니다. 다만 전 과목 패키지를 추천드립니다.</a:t>
            </a:r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444500" y="2844800"/>
            <a:ext cx="3886200" cy="1054100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508000" y="342900"/>
            <a:ext cx="3771900" cy="607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622300" y="3035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중간에 과목을 추가할 수 있나요?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01700" y="33147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네, 언제든 담임선생님과 상담 후 추가 등록이 가능합니다.</a:t>
            </a:r>
          </a:p>
        </p:txBody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444500" y="4025900"/>
            <a:ext cx="3886200" cy="1054100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508000" y="342900"/>
            <a:ext cx="3771900" cy="844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609600" y="42164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진단 테스트는 어떻게 진행되나요?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01700" y="45085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테스트는 과목별 30분 내외로 진행되며, 학생 개인별 수준과 약점 등을 파악합니다.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5219700"/>
            <a:ext cx="3886200" cy="1054100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508000" y="342900"/>
            <a:ext cx="3771900" cy="1080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609600" y="54102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담임이 모든 과목을 가르치나요?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89000" y="56896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담임선생님은 통합 관리만 하시며, 각 과목은 전담 강사가</a:t>
            </a:r>
          </a:p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수업합니다.</a:t>
            </a:r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6400800"/>
            <a:ext cx="3886200" cy="1054100"/>
          </a:xfrm>
          <a:prstGeom prst="rect">
            <a:avLst/>
          </a:prstGeom>
        </p:spPr>
      </p:pic>
      <p:sp>
        <p:nvSpPr>
          <p:cNvPr id="74" name="TextBox 74"/>
          <p:cNvSpPr txBox="1"/>
          <p:nvPr/>
        </p:nvSpPr>
        <p:spPr>
          <a:xfrm>
            <a:off x="495300" y="342900"/>
            <a:ext cx="3771900" cy="131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09600" y="6591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리포트는 얼마나 자주 받나요?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89000" y="68707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주간 통합 리포트가 담임선생님 단일 채널로 발송되므로 매주 받아보실 수 있습니다.</a:t>
            </a:r>
          </a:p>
        </p:txBody>
      </p:sp>
      <p:pic>
        <p:nvPicPr>
          <p:cNvPr id="77" name="Picture 77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431800" y="7581900"/>
            <a:ext cx="3886200" cy="1054100"/>
          </a:xfrm>
          <a:prstGeom prst="rect">
            <a:avLst/>
          </a:prstGeom>
        </p:spPr>
      </p:pic>
      <p:sp>
        <p:nvSpPr>
          <p:cNvPr id="78" name="TextBox 78"/>
          <p:cNvSpPr txBox="1"/>
          <p:nvPr/>
        </p:nvSpPr>
        <p:spPr>
          <a:xfrm>
            <a:off x="495300" y="342900"/>
            <a:ext cx="3771900" cy="1555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9" name="TextBox 79"/>
          <p:cNvSpPr txBox="1"/>
          <p:nvPr/>
        </p:nvSpPr>
        <p:spPr>
          <a:xfrm>
            <a:off x="609600" y="77851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기간에는 어떻게 운영되나요?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89000" y="80645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시험 4주 전부터 전 과목 동시 진행 부스터가 가동됩니다.</a:t>
            </a:r>
          </a:p>
        </p:txBody>
      </p:sp>
      <p:pic>
        <p:nvPicPr>
          <p:cNvPr id="81" name="Picture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 rotWithShape="1">
          <a:blip r:embed="rId21"/>
          <a:srcRect r="16592"/>
          <a:stretch/>
        </p:blipFill>
        <p:spPr>
          <a:xfrm>
            <a:off x="9601200" y="0"/>
            <a:ext cx="4692650" cy="6261100"/>
          </a:xfrm>
          <a:prstGeom prst="rect">
            <a:avLst/>
          </a:prstGeom>
        </p:spPr>
      </p:pic>
      <p:sp>
        <p:nvSpPr>
          <p:cNvPr id="83" name="TextBox 83"/>
          <p:cNvSpPr txBox="1"/>
          <p:nvPr/>
        </p:nvSpPr>
        <p:spPr>
          <a:xfrm>
            <a:off x="10058400" y="762000"/>
            <a:ext cx="3365500" cy="1219200"/>
          </a:xfrm>
          <a:prstGeom prst="rect">
            <a:avLst/>
          </a:prstGeom>
        </p:spPr>
        <p:txBody>
          <a:bodyPr lIns="0" tIns="52155" rIns="0" bIns="0" rtlCol="0" anchor="t"/>
          <a:lstStyle/>
          <a:p>
            <a:pPr lvl="0" algn="l">
              <a:lnSpc>
                <a:spcPct val="97940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 달라지는</a:t>
            </a:r>
          </a:p>
          <a:p>
            <a:pPr lvl="0" algn="l">
              <a:lnSpc>
                <a:spcPct val="97940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 공부 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68500" y="-38100"/>
            <a:ext cx="6769100" cy="1054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216400" y="190500"/>
            <a:ext cx="15443200" cy="970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0" y="0"/>
            <a:ext cx="4813300" cy="1009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0"/>
            <a:ext cx="4813300" cy="10096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83200" y="4826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9700" y="7239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5300" y="533400"/>
            <a:ext cx="2425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성장학원인가</a:t>
            </a:r>
            <a:r>
              <a:rPr lang="en-US" sz="6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?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57200" y="1587500"/>
            <a:ext cx="3771900" cy="469900"/>
          </a:xfrm>
          <a:prstGeom prst="rect">
            <a:avLst/>
          </a:prstGeom>
        </p:spPr>
        <p:txBody>
          <a:bodyPr lIns="0" tIns="5080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 문제</a:t>
            </a:r>
            <a:r>
              <a:rPr lang="en-US" sz="9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 아닌</a:t>
            </a:r>
          </a:p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 학습 시스템으로 지도</a:t>
            </a:r>
            <a:r>
              <a:rPr lang="en-US" sz="1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2895600"/>
            <a:ext cx="3886200" cy="939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08000" y="32004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81100" y="31242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 통합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100" y="33909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진도와 생활을 함께 관리합니다.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3251200"/>
            <a:ext cx="279400" cy="215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444500" y="3924300"/>
            <a:ext cx="3886200" cy="939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08000" y="42291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181100" y="41656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과목별 전담 강사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100" y="44323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5년 이상 경력의 전문 강사진입니다.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4292600"/>
            <a:ext cx="2794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444500" y="4965700"/>
            <a:ext cx="3886200" cy="939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508000" y="52705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181100" y="51943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1100" y="54610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학습 현황을 한 페이지로 공유합니다.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5321300"/>
            <a:ext cx="279400" cy="215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6007100"/>
            <a:ext cx="3886200" cy="9398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08000" y="63119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1181100" y="62357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 간 연계 학습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1100" y="65024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독해 · 지문을 교차로 활용합니다.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6362700"/>
            <a:ext cx="279400" cy="215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>
            <a:off x="444500" y="7035800"/>
            <a:ext cx="3886200" cy="939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08000" y="73406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181100" y="72771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 대비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100" y="75438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동시 부스터를 가동합니다.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7404100"/>
            <a:ext cx="279400" cy="215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8077200"/>
            <a:ext cx="3886200" cy="9398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508000" y="83820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1181100" y="83058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초등 · 중등 · 고등 진학 연결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1100" y="85725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기초부터 시작해 고등까지 이어갑니다.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8432800"/>
            <a:ext cx="279400" cy="2159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457200" y="2298700"/>
            <a:ext cx="23622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09200" y="533400"/>
            <a:ext cx="26416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</a:t>
            </a:r>
            <a:r>
              <a:rPr lang="en-US" sz="2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MANAGEMENT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711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0058400" y="1612900"/>
            <a:ext cx="3746500" cy="8001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0185400" y="1778000"/>
            <a:ext cx="34798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10274300" y="1778000"/>
            <a:ext cx="3390900" cy="4699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 spc="-100">
                <a:solidFill>
                  <a:srgbClr val="0A2784"/>
                </a:solidFill>
                <a:latin typeface="Pretendard Bold"/>
                <a:ea typeface="Pretendard Bold"/>
                <a:cs typeface="Pretendard Bold"/>
              </a:rPr>
              <a:t>학년 담임이 전 과목을 책임집니다. </a:t>
            </a:r>
            <a:r>
              <a:rPr lang="en-US" sz="1333" b="0" i="0" u="none" strike="noStrike" spc="-100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흩어진 학원 4곳</a:t>
            </a:r>
          </a:p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이 아닌, 한 곳에서 통합으로 관리받습니다.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2489200"/>
            <a:ext cx="1828800" cy="10287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0109200" y="25654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10629900" y="26670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일일 테스트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2743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과목별 매일 테스트, 담임 통합 피드백을 합니다.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2489200"/>
            <a:ext cx="1828800" cy="10287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12039600" y="29083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12534900" y="26797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1793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전 과목 진행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테스트가 한 페이지에 담깁니다.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3606800"/>
            <a:ext cx="1828800" cy="1028700"/>
          </a:xfrm>
          <a:prstGeom prst="rect">
            <a:avLst/>
          </a:prstGeom>
        </p:spPr>
      </p:pic>
      <p:sp>
        <p:nvSpPr>
          <p:cNvPr id="58" name="TextBox 58"/>
          <p:cNvSpPr txBox="1"/>
          <p:nvPr/>
        </p:nvSpPr>
        <p:spPr>
          <a:xfrm>
            <a:off x="10109200" y="36830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9" name="TextBox 59"/>
          <p:cNvSpPr txBox="1"/>
          <p:nvPr/>
        </p:nvSpPr>
        <p:spPr>
          <a:xfrm>
            <a:off x="10617200" y="37846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266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 부스터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616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자동 가동, 약점 영역 우선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순위를 조정합니다.</a:t>
            </a:r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3606800"/>
            <a:ext cx="1828800" cy="1028700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12039600" y="40132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12547600" y="37719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담임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666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8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면담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1920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월간 학습</a:t>
            </a:r>
            <a:r>
              <a:rPr lang="en-US" sz="800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800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진로 정기 상담을 진행합니다.</a:t>
            </a:r>
          </a:p>
        </p:txBody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4711700"/>
            <a:ext cx="1828800" cy="1028700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0109200" y="47879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10617200" y="49022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학부모 단일 채널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74300" y="5219700"/>
            <a:ext cx="1524000" cy="3937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담임 카톡 채널로 전 과목 통합 소통이 가능합니다.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4711700"/>
            <a:ext cx="1828800" cy="1028700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12039600" y="51308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12179300" y="52070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학생별 약점 영역 추적 및 우선 순위를 조정합니다.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560300" y="48895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학습 플래너</a:t>
            </a:r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15">
            <a:alphaModFix amt="90000"/>
          </a:blip>
          <a:stretch>
            <a:fillRect/>
          </a:stretch>
        </p:blipFill>
        <p:spPr>
          <a:xfrm>
            <a:off x="10045700" y="5854700"/>
            <a:ext cx="3771900" cy="1270000"/>
          </a:xfrm>
          <a:prstGeom prst="rect">
            <a:avLst/>
          </a:prstGeom>
        </p:spPr>
      </p:pic>
      <p:sp>
        <p:nvSpPr>
          <p:cNvPr id="74" name="TextBox 74"/>
          <p:cNvSpPr txBox="1"/>
          <p:nvPr/>
        </p:nvSpPr>
        <p:spPr>
          <a:xfrm>
            <a:off x="10172700" y="6045200"/>
            <a:ext cx="3505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10287000" y="5981700"/>
            <a:ext cx="15367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48900" y="6667500"/>
            <a:ext cx="1549400" cy="292100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1447800" y="165100"/>
            <a:ext cx="19164300" cy="133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10604500" y="6731000"/>
            <a:ext cx="1168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상승 사례 다수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287000" y="6731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모의</a:t>
            </a: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49100" y="6286500"/>
            <a:ext cx="1295400" cy="292100"/>
          </a:xfrm>
          <a:prstGeom prst="rect">
            <a:avLst/>
          </a:prstGeom>
        </p:spPr>
      </p:pic>
      <p:sp>
        <p:nvSpPr>
          <p:cNvPr id="81" name="TextBox 81"/>
          <p:cNvSpPr txBox="1"/>
          <p:nvPr/>
        </p:nvSpPr>
        <p:spPr>
          <a:xfrm>
            <a:off x="1193800" y="165100"/>
            <a:ext cx="22606000" cy="1254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12166600" y="6337300"/>
            <a:ext cx="9906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주요 대학 합격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8872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48900" y="6286500"/>
            <a:ext cx="1524000" cy="292100"/>
          </a:xfrm>
          <a:prstGeom prst="rect">
            <a:avLst/>
          </a:prstGeom>
        </p:spPr>
      </p:pic>
      <p:sp>
        <p:nvSpPr>
          <p:cNvPr id="85" name="TextBox 85"/>
          <p:cNvSpPr txBox="1"/>
          <p:nvPr/>
        </p:nvSpPr>
        <p:spPr>
          <a:xfrm>
            <a:off x="1422400" y="165100"/>
            <a:ext cx="19189700" cy="1254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6" name="TextBox 86"/>
          <p:cNvSpPr txBox="1"/>
          <p:nvPr/>
        </p:nvSpPr>
        <p:spPr>
          <a:xfrm>
            <a:off x="10668000" y="6337300"/>
            <a:ext cx="10160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</a:t>
            </a:r>
            <a:r>
              <a:rPr lang="en-US" sz="66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과목 A등급 다수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2870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10058400" y="7239000"/>
            <a:ext cx="3746500" cy="11811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10058400" y="8509000"/>
            <a:ext cx="3746500" cy="1181100"/>
          </a:xfrm>
          <a:prstGeom prst="rect">
            <a:avLst/>
          </a:prstGeom>
        </p:spPr>
      </p:pic>
      <p:sp>
        <p:nvSpPr>
          <p:cNvPr id="90" name="TextBox 90"/>
          <p:cNvSpPr txBox="1"/>
          <p:nvPr/>
        </p:nvSpPr>
        <p:spPr>
          <a:xfrm>
            <a:off x="10096500" y="8585200"/>
            <a:ext cx="36449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10261600" y="737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261600" y="864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845800" y="768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2회 연속 미제출 시 담임 연락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274300" y="76835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845800" y="788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274300" y="78867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845800" y="80772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274300" y="808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833100" y="895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261600" y="8953500"/>
            <a:ext cx="55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845800" y="915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274300" y="9156700"/>
            <a:ext cx="546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845800" y="93599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담임선생님 채널 실시간 안내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274300" y="935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245100" y="14605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국어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245100" y="35560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영어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245100" y="56515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수학</a:t>
            </a: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1600" y="2654300"/>
            <a:ext cx="266700" cy="266700"/>
          </a:xfrm>
          <a:prstGeom prst="rect">
            <a:avLst/>
          </a:prstGeom>
        </p:spPr>
      </p:pic>
      <p:pic>
        <p:nvPicPr>
          <p:cNvPr id="109" name="Picture 10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61600" y="3771900"/>
            <a:ext cx="266700" cy="2667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66600" y="2654300"/>
            <a:ext cx="279400" cy="279400"/>
          </a:xfrm>
          <a:prstGeom prst="rect">
            <a:avLst/>
          </a:prstGeom>
        </p:spPr>
      </p:pic>
      <p:pic>
        <p:nvPicPr>
          <p:cNvPr id="111" name="Picture 11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179300" y="3771900"/>
            <a:ext cx="279400" cy="2794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166600" y="2654300"/>
            <a:ext cx="279400" cy="279400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1600" y="4876800"/>
            <a:ext cx="266700" cy="26670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66600" y="4876800"/>
            <a:ext cx="266700" cy="266700"/>
          </a:xfrm>
          <a:prstGeom prst="rect">
            <a:avLst/>
          </a:prstGeom>
        </p:spPr>
      </p:pic>
      <p:sp>
        <p:nvSpPr>
          <p:cNvPr id="115" name="TextBox 115"/>
          <p:cNvSpPr txBox="1"/>
          <p:nvPr/>
        </p:nvSpPr>
        <p:spPr>
          <a:xfrm>
            <a:off x="5245100" y="77597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과학</a:t>
            </a:r>
          </a:p>
        </p:txBody>
      </p:sp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245100" y="17780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글쓰기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일기 · 독후감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주제 글쓰기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자소서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다독 · 낭독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비문학 · 문학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고전 · 현대문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어휘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EBS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7" name="Table 117"/>
          <p:cNvGraphicFramePr>
            <a:graphicFrameLocks noGrp="1"/>
          </p:cNvGraphicFramePr>
          <p:nvPr/>
        </p:nvGraphicFramePr>
        <p:xfrm>
          <a:off x="5245100" y="38735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파닉스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 · 심화 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구능 어법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리딩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 · 장문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회화</a:t>
                      </a:r>
                      <a:r>
                        <a:rPr lang="en-US" sz="6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</a:t>
                      </a:r>
                      <a:r>
                        <a:rPr lang="en-US" sz="6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회화 · 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듣기 훈련 · 실전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듣기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5245100" y="59690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사고력 · 연산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 개념 ·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고1 공통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도형 · 측정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유형 · 최상위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 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경시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심화 · 경시 · 선행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r>
                        <a:rPr lang="en-US" sz="5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 · 수</a:t>
                      </a:r>
                      <a:r>
                        <a:rPr lang="en-US" sz="5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II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9" name="Table 119"/>
          <p:cNvGraphicFramePr>
            <a:graphicFrameLocks noGrp="1"/>
          </p:cNvGraphicFramePr>
          <p:nvPr/>
        </p:nvGraphicFramePr>
        <p:xfrm>
          <a:off x="5245100" y="80772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호기심 탐구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 · 관찰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탐구 보고서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469</Words>
  <Application>Microsoft Office PowerPoint</Application>
  <PresentationFormat>사용자 지정</PresentationFormat>
  <Paragraphs>185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Pretendard Light</vt:lpstr>
      <vt:lpstr>Pretendard SemiBold</vt:lpstr>
      <vt:lpstr>Arial</vt:lpstr>
      <vt:lpstr>Pretendard ExtraBold</vt:lpstr>
      <vt:lpstr>Pretendard Bold</vt:lpstr>
      <vt:lpstr>Calibri</vt:lpstr>
      <vt:lpstr>Pretendard Regular</vt:lpstr>
      <vt:lpstr>210 Mystery Regular</vt:lpstr>
      <vt:lpstr>Pretendard Medium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6</cp:revision>
  <dcterms:created xsi:type="dcterms:W3CDTF">2006-08-16T00:00:00Z</dcterms:created>
  <dcterms:modified xsi:type="dcterms:W3CDTF">2026-06-26T10:15:20Z</dcterms:modified>
</cp:coreProperties>
</file>