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4262100" cy="10083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3918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100" y="279400"/>
            <a:ext cx="13919200" cy="951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5981700"/>
            <a:ext cx="1638300" cy="16383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31900" y="203200"/>
            <a:ext cx="7137400" cy="132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600" y="6261100"/>
            <a:ext cx="1219200" cy="121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911600" y="77978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내신</a:t>
            </a:r>
            <a:r>
              <a:rPr lang="en-US" sz="98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98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수능 대비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전문 학원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5981700"/>
            <a:ext cx="1638300" cy="163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31900" y="203200"/>
            <a:ext cx="11811000" cy="131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0" y="6438900"/>
            <a:ext cx="1028700" cy="698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223000" y="77851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소수 정원으로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집중 수업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1400" y="5981700"/>
            <a:ext cx="1638300" cy="1638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31900" y="203200"/>
            <a:ext cx="16497300" cy="131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6200" y="6375400"/>
            <a:ext cx="1054100" cy="800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547100" y="7785100"/>
            <a:ext cx="1803400" cy="647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 관리</a:t>
            </a:r>
          </a:p>
          <a:p>
            <a:pPr lvl="0" algn="ctr">
              <a:lnSpc>
                <a:spcPct val="98770"/>
              </a:lnSpc>
            </a:pPr>
            <a:r>
              <a:rPr lang="en-US" sz="196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0800" y="8826500"/>
            <a:ext cx="1511300" cy="3429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911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상담문의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61000" y="9194800"/>
            <a:ext cx="3340100" cy="5715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9" b="0" i="0" u="none" strike="noStrike" spc="-100">
                <a:solidFill>
                  <a:srgbClr val="FFFFFF"/>
                </a:solidFill>
                <a:latin typeface="210 Mystery Regular"/>
                <a:ea typeface="210 Mystery Regular"/>
                <a:cs typeface="210 Mystery Regular"/>
              </a:rPr>
              <a:t>123-123-1234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700" y="9131300"/>
            <a:ext cx="1714500" cy="647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4262100" cy="638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89000" y="774700"/>
            <a:ext cx="7010400" cy="2527300"/>
          </a:xfrm>
          <a:prstGeom prst="rect">
            <a:avLst/>
          </a:prstGeom>
          <a:effectLst>
            <a:outerShdw blurRad="197564" dist="4939" dir="5400000">
              <a:srgbClr val="000000">
                <a:alpha val="70000"/>
              </a:srgbClr>
            </a:outerShdw>
          </a:effectLst>
        </p:spPr>
        <p:txBody>
          <a:bodyPr lIns="0" tIns="56896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78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성적이</a:t>
            </a:r>
            <a:r>
              <a:rPr lang="en-US" sz="7778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7778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달라지는</a:t>
            </a:r>
            <a:endParaRPr lang="en-US" sz="7778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96279"/>
              </a:lnSpc>
            </a:pPr>
            <a:r>
              <a:rPr lang="en-US" sz="7778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전략적</a:t>
            </a:r>
            <a:r>
              <a:rPr lang="en-US" sz="7778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778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공부</a:t>
            </a:r>
            <a:r>
              <a:rPr lang="en-US" sz="7778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778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방법</a:t>
            </a:r>
            <a:endParaRPr lang="en-US" sz="7778" b="0" i="0" u="none" strike="noStrike" spc="-1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2700" y="0"/>
            <a:ext cx="14249400" cy="1008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0500" y="279400"/>
            <a:ext cx="13906500" cy="951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143000" y="800100"/>
            <a:ext cx="3048000" cy="3556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PHILOSOPHY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9500" y="12446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왜 </a:t>
            </a:r>
            <a:r>
              <a:rPr lang="en-US" sz="4851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윤쌤인가</a:t>
            </a:r>
            <a:r>
              <a:rPr lang="en-US" sz="1354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851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?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8966200"/>
            <a:ext cx="1409700" cy="533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92200" y="2209800"/>
            <a:ext cx="8509000" cy="419100"/>
          </a:xfrm>
          <a:prstGeom prst="rect">
            <a:avLst/>
          </a:prstGeom>
        </p:spPr>
        <p:txBody>
          <a:bodyPr lIns="0" tIns="6905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233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단순한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183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풀이가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아닌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체계적인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학습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시스템으로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지도</a:t>
            </a:r>
            <a:r>
              <a:rPr lang="en-US" sz="831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33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</a:t>
            </a:r>
            <a:r>
              <a:rPr lang="en-US" sz="233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3860800"/>
            <a:ext cx="5930900" cy="130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68400" y="469900"/>
            <a:ext cx="5765800" cy="808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095500" y="4178300"/>
            <a:ext cx="377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2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글쓰기 중심 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95500" y="4559300"/>
            <a:ext cx="3746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생각을 표현하는 힘을 키웁니다.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4356100"/>
            <a:ext cx="393700" cy="29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5435600"/>
            <a:ext cx="5930900" cy="130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168400" y="469900"/>
            <a:ext cx="5765800" cy="1122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095500" y="5753100"/>
            <a:ext cx="375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~</a:t>
            </a: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인 밀착 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95500" y="6121400"/>
            <a:ext cx="37465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원장님이 매 차시 직접 첨삭합니다.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5930900"/>
            <a:ext cx="3937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1079500" y="6997700"/>
            <a:ext cx="5930900" cy="130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68400" y="469900"/>
            <a:ext cx="5765800" cy="143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095500" y="7315200"/>
            <a:ext cx="42164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첨삭 중심 구조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95500" y="7696200"/>
            <a:ext cx="41910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작성 → 첨삭 → 다시</a:t>
            </a:r>
            <a:r>
              <a:rPr lang="en-US" sz="155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쓰기를 반복합니다.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100" y="7493000"/>
            <a:ext cx="393700" cy="292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79500" y="3035300"/>
            <a:ext cx="2578100" cy="520700"/>
          </a:xfrm>
          <a:prstGeom prst="rect">
            <a:avLst/>
          </a:prstGeom>
        </p:spPr>
        <p:txBody>
          <a:bodyPr lIns="0" tIns="4305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95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교육 특징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3860800"/>
            <a:ext cx="5930900" cy="13081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13400" y="469900"/>
            <a:ext cx="9207500" cy="808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8255000" y="4178300"/>
            <a:ext cx="377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27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독서 기반 학습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55000" y="4559300"/>
            <a:ext cx="3746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57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자체 교재와 커리큘럼을 활용합니다.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300" y="4356100"/>
            <a:ext cx="393700" cy="292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5435600"/>
            <a:ext cx="5930900" cy="13081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5613400" y="469900"/>
            <a:ext cx="9207500" cy="1122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255000" y="5753100"/>
            <a:ext cx="3759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초 · 중 · 고  연결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55000" y="6121400"/>
            <a:ext cx="37465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한 줄의 성장 서사를 만들어갑니다.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5930900"/>
            <a:ext cx="393700" cy="292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51700" y="6997700"/>
            <a:ext cx="5930900" cy="13081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5613400" y="469900"/>
            <a:ext cx="9207500" cy="1437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8255000" y="7315200"/>
            <a:ext cx="42164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9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학생부 멘토링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55000" y="7696200"/>
            <a:ext cx="41910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6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진로상담사 1급이 직접 설계합니다.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300" y="7493000"/>
            <a:ext cx="3937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100" y="203200"/>
            <a:ext cx="13919200" cy="967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43000" y="800100"/>
            <a:ext cx="3048000" cy="355600"/>
          </a:xfrm>
          <a:prstGeom prst="rect">
            <a:avLst/>
          </a:prstGeom>
        </p:spPr>
        <p:txBody>
          <a:bodyPr lIns="0" tIns="32082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539D98"/>
                </a:solidFill>
                <a:latin typeface="Pretendard Light"/>
                <a:ea typeface="Pretendard Light"/>
                <a:cs typeface="Pretendard Light"/>
              </a:rPr>
              <a:t>CURRICULUM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9500" y="1206500"/>
            <a:ext cx="4203700" cy="863600"/>
          </a:xfrm>
          <a:prstGeom prst="rect">
            <a:avLst/>
          </a:prstGeom>
        </p:spPr>
        <p:txBody>
          <a:bodyPr lIns="0" tIns="7702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20635E"/>
                </a:solidFill>
                <a:latin typeface="Pretendard ExtraBold"/>
                <a:ea typeface="Pretendard ExtraBold"/>
                <a:cs typeface="Pretendard ExtraBold"/>
              </a:rPr>
              <a:t>교육 과정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352800" y="6223000"/>
            <a:ext cx="5181600" cy="2641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454400" y="2349500"/>
            <a:ext cx="5003800" cy="1040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737600" y="6223000"/>
            <a:ext cx="5003800" cy="2641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73600" y="2349500"/>
            <a:ext cx="13144500" cy="10401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610100" y="6477000"/>
            <a:ext cx="2400300" cy="4445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523" b="0" i="0" u="none" strike="noStrike">
                <a:solidFill>
                  <a:srgbClr val="22918A"/>
                </a:solidFill>
                <a:latin typeface="Pretendard Bold"/>
                <a:ea typeface="Pretendard Bold"/>
                <a:cs typeface="Pretendard Bold"/>
              </a:rPr>
              <a:t>특별 프로그램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17100" y="6477000"/>
            <a:ext cx="2552700" cy="4445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523" b="0" i="0" u="none" strike="noStrike">
                <a:solidFill>
                  <a:srgbClr val="22918A"/>
                </a:solidFill>
                <a:latin typeface="Pretendard Bold"/>
                <a:ea typeface="Pretendard Bold"/>
                <a:cs typeface="Pretendard Bold"/>
              </a:rPr>
              <a:t>학습 지원 프로그램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30700" y="7073900"/>
            <a:ext cx="3263900" cy="15494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시험 대비 집중 특강</a:t>
            </a: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독서 토론 프로그램</a:t>
            </a: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글쓰기 대회 대비반</a:t>
            </a: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방학 집중 학습 프로그램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58400" y="7073900"/>
            <a:ext cx="2921000" cy="15494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개별 학습 상담</a:t>
            </a: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첨삭 노트 관리</a:t>
            </a: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학습 계획 관리</a:t>
            </a:r>
          </a:p>
          <a:p>
            <a:pPr marL="342900" lvl="1" indent="-342900" algn="l">
              <a:lnSpc>
                <a:spcPct val="109559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1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정기 성적 분석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584200" y="2540000"/>
            <a:ext cx="4165600" cy="3213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22300" y="762000"/>
            <a:ext cx="4089400" cy="676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914400" y="2794000"/>
            <a:ext cx="30734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2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초등 과정 </a:t>
            </a:r>
            <a:r>
              <a:rPr lang="en-US" sz="212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212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글쓰기 입문</a:t>
            </a:r>
            <a:r>
              <a:rPr lang="en-US" sz="212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57400" y="3365500"/>
            <a:ext cx="3060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두려움 없는 글쓰기 시작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500" y="3365500"/>
            <a:ext cx="711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내용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57400" y="3683000"/>
            <a:ext cx="2768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자체 제작 교재 활용 수업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57400" y="4762500"/>
            <a:ext cx="34671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글쓰기 · 국어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2500" y="4762500"/>
            <a:ext cx="1016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  <a:r>
              <a:rPr lang="en-US" sz="1009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57400" y="3987800"/>
            <a:ext cx="2768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1,200</a:t>
            </a: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자 첨삭 훈련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57400" y="4305300"/>
            <a:ext cx="2768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독서 기반 사고력 확장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57400" y="5118100"/>
            <a:ext cx="34671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표현력 향상 및 독서 습관 형성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2500" y="5130800"/>
            <a:ext cx="1016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목표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953000" y="2514600"/>
            <a:ext cx="4356100" cy="32512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4076700" y="431800"/>
            <a:ext cx="6134100" cy="741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5295900" y="2781300"/>
            <a:ext cx="31115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41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중등 과정 </a:t>
            </a:r>
            <a:r>
              <a:rPr lang="en-US" sz="2141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2141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내신 대비</a:t>
            </a:r>
            <a:r>
              <a:rPr lang="en-US" sz="2141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38900" y="3352800"/>
            <a:ext cx="30861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학교별 국어 내신 집중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34000" y="3365500"/>
            <a:ext cx="711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내용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38900" y="3670300"/>
            <a:ext cx="2794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수행평가 완벽 대비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8900" y="4762500"/>
            <a:ext cx="3505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국어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34000" y="4775200"/>
            <a:ext cx="1028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  <a:r>
              <a:rPr lang="en-US" sz="1019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7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8900" y="3987800"/>
            <a:ext cx="2794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학교별 맞춤 교재 활용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38900" y="4305300"/>
            <a:ext cx="2794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서술형 문제 훈련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38900" y="5219700"/>
            <a:ext cx="3505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내신 성적 향상 및 수행평가 대비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34000" y="5219700"/>
            <a:ext cx="1028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33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목표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9550400" y="2514600"/>
            <a:ext cx="3759200" cy="32131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3479800" y="431800"/>
            <a:ext cx="15900400" cy="7391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9880600" y="2768600"/>
            <a:ext cx="30734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2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고등 과정 </a:t>
            </a:r>
            <a:r>
              <a:rPr lang="en-US" sz="212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2120" b="0" i="0" u="none" strike="noStrike">
                <a:solidFill>
                  <a:srgbClr val="148079"/>
                </a:solidFill>
                <a:latin typeface="Pretendard Bold"/>
                <a:ea typeface="Pretendard Bold"/>
                <a:cs typeface="Pretendard Bold"/>
              </a:rPr>
              <a:t>입시 대비</a:t>
            </a:r>
            <a:r>
              <a:rPr lang="en-US" sz="2120" b="0" i="0" u="none" strike="noStrike">
                <a:solidFill>
                  <a:srgbClr val="148079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10900" y="3352800"/>
            <a:ext cx="3060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학생부 서사 설계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18700" y="3352800"/>
            <a:ext cx="711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내용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10900" y="3657600"/>
            <a:ext cx="2768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진로 · 동아리 전략 수립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10900" y="4749800"/>
            <a:ext cx="34671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국어 · 입시 컨설팅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18700" y="4749800"/>
            <a:ext cx="1016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주요</a:t>
            </a:r>
            <a:r>
              <a:rPr lang="en-US" sz="1009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과목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010900" y="3975100"/>
            <a:ext cx="2768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수행평가 연계 지도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010900" y="4292600"/>
            <a:ext cx="2768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입시 멘토링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010900" y="5181600"/>
            <a:ext cx="34671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학생부 완성 및 대입 준비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918700" y="5194300"/>
            <a:ext cx="1016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716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목표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100" y="279400"/>
            <a:ext cx="13919200" cy="951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257300" y="774700"/>
            <a:ext cx="4445000" cy="6477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LEARNING  MANAGEMENT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6500" y="12192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학습 관리 시스템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206500" y="2590800"/>
            <a:ext cx="5524500" cy="1181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97000" y="2844800"/>
            <a:ext cx="51435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549400" y="2844800"/>
            <a:ext cx="5003800" cy="6985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970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한 명도 놓치지 않는 시스템. </a:t>
            </a:r>
            <a:r>
              <a:rPr lang="en-US" sz="1970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매 차시 첨삭부터 입시</a:t>
            </a:r>
          </a:p>
          <a:p>
            <a:pPr lvl="0" algn="l">
              <a:lnSpc>
                <a:spcPct val="113710"/>
              </a:lnSpc>
            </a:pPr>
            <a:r>
              <a:rPr lang="en-US" sz="1970" b="0" i="0" u="none" strike="noStrike">
                <a:solidFill>
                  <a:srgbClr val="20635E"/>
                </a:solidFill>
                <a:latin typeface="Pretendard Regular"/>
                <a:ea typeface="Pretendard Regular"/>
                <a:cs typeface="Pretendard Regular"/>
              </a:rPr>
              <a:t>멘토링까지, 학생의 모든 단계를 함께합니다.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3898900"/>
            <a:ext cx="2692400" cy="1511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70000" y="4445000"/>
            <a:ext cx="2552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044700" y="41529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매 차시 첨삭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8600" y="4635500"/>
            <a:ext cx="2247900" cy="5715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원장 직접 작성 → 첨삭 → 다시 쓰기를 반복합니다.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4140200"/>
            <a:ext cx="406400" cy="406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0" y="3898900"/>
            <a:ext cx="2692400" cy="1511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140200" y="4508500"/>
            <a:ext cx="25273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4838700" y="4165600"/>
            <a:ext cx="1981200" cy="3175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773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글쓰기 포트폴리오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43400" y="4635500"/>
            <a:ext cx="2247900" cy="5715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학년별 글 모음, 입시 자료</a:t>
            </a:r>
          </a:p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로 연결됩니다.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4051300"/>
            <a:ext cx="558800" cy="558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5537200"/>
            <a:ext cx="2692400" cy="1511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70000" y="6083300"/>
            <a:ext cx="2552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032000" y="58039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학부모 소통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5900" y="6286500"/>
            <a:ext cx="2247900" cy="5715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단톡방 공유</a:t>
            </a:r>
            <a:r>
              <a:rPr lang="en-US" sz="98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+</a:t>
            </a:r>
            <a:r>
              <a:rPr lang="en-US" sz="98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개인 밴드로</a:t>
            </a:r>
          </a:p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학습 현황을 기록합니다.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300" y="5791200"/>
            <a:ext cx="393700" cy="393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0" y="5537200"/>
            <a:ext cx="2692400" cy="15113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4140200" y="6146800"/>
            <a:ext cx="25273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4864100" y="58039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정기 </a:t>
            </a:r>
            <a:r>
              <a:rPr lang="en-US" sz="2069" b="0" i="0" u="none" strike="noStrike">
                <a:solidFill>
                  <a:srgbClr val="34585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985" b="0" i="0" u="none" strike="noStrike">
                <a:solidFill>
                  <a:srgbClr val="34585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en-US" sz="1182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2069" b="0" i="0" u="none" strike="noStrike">
                <a:solidFill>
                  <a:srgbClr val="34585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 상담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56100" y="6286500"/>
            <a:ext cx="2247900" cy="5715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분기별 진로 · 학습 컨설팅</a:t>
            </a:r>
          </a:p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을 진행합니다.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700" y="5791200"/>
            <a:ext cx="393700" cy="393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7175500"/>
            <a:ext cx="2692400" cy="15113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270000" y="7721600"/>
            <a:ext cx="25527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2032000" y="74295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학생부 설계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5900" y="7912100"/>
            <a:ext cx="2247900" cy="5588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1614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진로진학상담사 1급 컨설팅으로 확실히 설계합니다.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300" y="7416800"/>
            <a:ext cx="393700" cy="393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0" y="7175500"/>
            <a:ext cx="2692400" cy="15113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4140200" y="7785100"/>
            <a:ext cx="25273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4343400" y="7912100"/>
            <a:ext cx="2247900" cy="5715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동아리</a:t>
            </a:r>
            <a:r>
              <a:rPr lang="en-US" sz="1379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1379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수행</a:t>
            </a:r>
            <a:r>
              <a:rPr lang="en-US" sz="1379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1379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자소서까지</a:t>
            </a:r>
          </a:p>
          <a:p>
            <a:pPr lvl="0" algn="l">
              <a:lnSpc>
                <a:spcPct val="104580"/>
              </a:lnSpc>
            </a:pPr>
            <a:r>
              <a:rPr lang="en-US" sz="1675" b="0" i="0" u="none" strike="noStrike">
                <a:solidFill>
                  <a:srgbClr val="345855"/>
                </a:solidFill>
                <a:latin typeface="Pretendard Medium"/>
                <a:ea typeface="Pretendard Medium"/>
                <a:cs typeface="Pretendard Medium"/>
              </a:rPr>
              <a:t>통합하여 대비합니다.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76800" y="7442200"/>
            <a:ext cx="1981200" cy="368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69" b="0" i="0" u="none" strike="noStrike">
                <a:solidFill>
                  <a:srgbClr val="345855"/>
                </a:solidFill>
                <a:latin typeface="Pretendard Bold"/>
                <a:ea typeface="Pretendard Bold"/>
                <a:cs typeface="Pretendard Bold"/>
              </a:rPr>
              <a:t>입시 준비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0700" y="7429500"/>
            <a:ext cx="393700" cy="393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>
            <a:off x="7048500" y="2590800"/>
            <a:ext cx="6007100" cy="2019300"/>
          </a:xfrm>
          <a:prstGeom prst="rect">
            <a:avLst/>
          </a:prstGeom>
        </p:spPr>
      </p:pic>
      <p:sp>
        <p:nvSpPr>
          <p:cNvPr id="40" name="TextBox 40"/>
          <p:cNvSpPr txBox="1"/>
          <p:nvPr/>
        </p:nvSpPr>
        <p:spPr>
          <a:xfrm>
            <a:off x="7264400" y="3213100"/>
            <a:ext cx="55753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7442200" y="2794000"/>
            <a:ext cx="2451100" cy="355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02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실적 </a:t>
            </a:r>
            <a:r>
              <a:rPr lang="en-US" sz="202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202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선택 영역</a:t>
            </a:r>
            <a:r>
              <a:rPr lang="en-US" sz="202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8700" y="3886200"/>
            <a:ext cx="2730500" cy="4699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7429500" y="4000500"/>
            <a:ext cx="26416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7950200" y="3975100"/>
            <a:ext cx="2095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카이스트 · 서울대 합격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42200" y="3975100"/>
            <a:ext cx="647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고등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0900" y="3276600"/>
            <a:ext cx="2197100" cy="4699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791700" y="3390900"/>
            <a:ext cx="21082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10325100" y="3365500"/>
            <a:ext cx="15875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국어 </a:t>
            </a:r>
            <a:r>
              <a:rPr lang="en-US" sz="1694" b="0" i="0" u="none" strike="noStrike" spc="-100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A</a:t>
            </a: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등급 다수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04400" y="3365500"/>
            <a:ext cx="647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중등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8700" y="3276600"/>
            <a:ext cx="2247900" cy="469900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7416800" y="3390900"/>
            <a:ext cx="2159000" cy="25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7950200" y="3365500"/>
            <a:ext cx="16256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글쓰기 대회 수상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42200" y="3365500"/>
            <a:ext cx="6477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초등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5">
            <a:alphaModFix amt="90000"/>
          </a:blip>
          <a:stretch>
            <a:fillRect/>
          </a:stretch>
        </p:blipFill>
        <p:spPr>
          <a:xfrm>
            <a:off x="7073900" y="4787900"/>
            <a:ext cx="5969000" cy="187960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5626100" y="-1625600"/>
            <a:ext cx="8864600" cy="1470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16">
            <a:alphaModFix amt="90000"/>
          </a:blip>
          <a:stretch>
            <a:fillRect/>
          </a:stretch>
        </p:blipFill>
        <p:spPr>
          <a:xfrm>
            <a:off x="7073900" y="6807200"/>
            <a:ext cx="5969000" cy="18796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5626100" y="-1625600"/>
            <a:ext cx="8864600" cy="1874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7391400" y="5016500"/>
            <a:ext cx="24511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2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학생 관리 규정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91400" y="7048500"/>
            <a:ext cx="2451100" cy="381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2126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환불 및 소통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31200" y="5499100"/>
            <a:ext cx="2870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3회 미제출 시 학부모 연락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16800" y="54991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과제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31200" y="5816600"/>
            <a:ext cx="29083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1회 즉시 학부모 통보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416800" y="58166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결석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31200" y="6134100"/>
            <a:ext cx="3251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반 분위기 침해 · 학교폭력 즉시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416800" y="61468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퇴원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31200" y="7531100"/>
            <a:ext cx="2870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전액 환불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416800" y="7531100"/>
            <a:ext cx="8890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수강 전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331200" y="7848600"/>
            <a:ext cx="29083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미수강분 전액 환불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416800" y="7848600"/>
            <a:ext cx="8763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수강 후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31200" y="8166100"/>
            <a:ext cx="32512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실시간 안내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16800" y="8178800"/>
            <a:ext cx="660400" cy="3048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694" b="0" i="0" u="none" strike="noStrike">
                <a:solidFill>
                  <a:srgbClr val="22918A"/>
                </a:solidFill>
                <a:latin typeface="Pretendard ExtraBold"/>
                <a:ea typeface="Pretendard ExtraBold"/>
                <a:cs typeface="Pretendard ExtraBold"/>
              </a:rPr>
              <a:t>출결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100" y="279400"/>
            <a:ext cx="13919200" cy="951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320800" y="952500"/>
            <a:ext cx="2108200" cy="317500"/>
          </a:xfrm>
          <a:prstGeom prst="rect">
            <a:avLst/>
          </a:prstGeom>
        </p:spPr>
        <p:txBody>
          <a:bodyPr lIns="0" tIns="31145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20" b="0" i="0" u="none" strike="noStrike" spc="400">
                <a:solidFill>
                  <a:srgbClr val="20635E"/>
                </a:solidFill>
                <a:latin typeface="Pretendard Light"/>
                <a:ea typeface="Pretendard Light"/>
                <a:cs typeface="Pretendard Light"/>
              </a:rPr>
              <a:t>ADMISSION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4600" y="1270000"/>
            <a:ext cx="4406900" cy="850900"/>
          </a:xfrm>
          <a:prstGeom prst="rect">
            <a:avLst/>
          </a:prstGeom>
        </p:spPr>
        <p:txBody>
          <a:bodyPr lIns="0" tIns="819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793" b="0" i="0" u="none" strike="noStrike" spc="-100">
                <a:solidFill>
                  <a:srgbClr val="20635E"/>
                </a:solidFill>
                <a:latin typeface="Pretendard ExtraBold"/>
                <a:ea typeface="Pretendard ExtraBold"/>
                <a:cs typeface="Pretendard ExtraBold"/>
              </a:rPr>
              <a:t>입학 안내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70800" y="2387600"/>
            <a:ext cx="4381500" cy="342900"/>
          </a:xfrm>
          <a:prstGeom prst="rect">
            <a:avLst/>
          </a:prstGeom>
        </p:spPr>
        <p:txBody>
          <a:bodyPr lIns="0" tIns="30482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920" b="0" i="0" u="none" strike="noStrike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주소 : 대구광역시 달서구 조암로 14 (6F)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073400"/>
            <a:ext cx="5499100" cy="1092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321300" y="203200"/>
            <a:ext cx="10248900" cy="684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8597900" y="3276600"/>
            <a:ext cx="3429000" cy="698500"/>
          </a:xfrm>
          <a:prstGeom prst="rect">
            <a:avLst/>
          </a:prstGeom>
        </p:spPr>
        <p:txBody>
          <a:bodyPr lIns="0" tIns="34096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147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ID </a:t>
            </a:r>
          </a:p>
          <a:p>
            <a:pPr lvl="0" algn="ctr">
              <a:lnSpc>
                <a:spcPct val="95449"/>
              </a:lnSpc>
            </a:pPr>
            <a:r>
              <a:rPr lang="en-US" sz="2147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 @yunsam-academy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721600" y="4394200"/>
            <a:ext cx="5461000" cy="2209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19700" y="254000"/>
            <a:ext cx="10439400" cy="1046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721600" y="6908800"/>
            <a:ext cx="5473700" cy="2311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245100" y="254000"/>
            <a:ext cx="10426700" cy="1560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0700" y="4737100"/>
            <a:ext cx="520700" cy="520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600" y="7023100"/>
            <a:ext cx="1358900" cy="711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826500" y="4813300"/>
            <a:ext cx="2044700" cy="3810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146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88400" y="7200900"/>
            <a:ext cx="1892300" cy="3302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91" b="0" i="0" u="none" strike="noStrike">
                <a:solidFill>
                  <a:srgbClr val="565B61"/>
                </a:solidFill>
                <a:latin typeface="Pretendard Medium"/>
                <a:ea typeface="Pretendard Medium"/>
                <a:cs typeface="Pretendard Medium"/>
              </a:rPr>
              <a:t>네이버 플레이스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4900" y="4762500"/>
            <a:ext cx="1435100" cy="1435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4900" y="7327900"/>
            <a:ext cx="1435100" cy="1435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128000" y="5461000"/>
            <a:ext cx="2349500" cy="330200"/>
          </a:xfrm>
          <a:prstGeom prst="rect">
            <a:avLst/>
          </a:prstGeom>
        </p:spPr>
        <p:txBody>
          <a:bodyPr lIns="0" tIns="29338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채널 추가 후 1</a:t>
            </a:r>
            <a:r>
              <a:rPr lang="en-US" sz="1215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1057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 상담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02600" y="7874000"/>
            <a:ext cx="2374900" cy="330200"/>
          </a:xfrm>
          <a:prstGeom prst="rect">
            <a:avLst/>
          </a:prstGeom>
        </p:spPr>
        <p:txBody>
          <a:bodyPr lIns="0" tIns="29338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학원 위치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리뷰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1373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84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예약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alphaModFix amt="7000"/>
          </a:blip>
          <a:stretch>
            <a:fillRect/>
          </a:stretch>
        </p:blipFill>
        <p:spPr>
          <a:xfrm>
            <a:off x="1244600" y="2552700"/>
            <a:ext cx="5194300" cy="20447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35100" y="673100"/>
            <a:ext cx="4800600" cy="5816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397000" y="2844800"/>
            <a:ext cx="901700" cy="6985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539D98"/>
                </a:solidFill>
                <a:latin typeface="210 Mystery Regular"/>
                <a:ea typeface="210 Mystery Regular"/>
                <a:cs typeface="210 Mystery Regular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59000" y="28829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예약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46500" y="3949700"/>
            <a:ext cx="24130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전화 · 카카오톡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96200" y="939800"/>
            <a:ext cx="2984500" cy="317500"/>
          </a:xfrm>
          <a:prstGeom prst="rect">
            <a:avLst/>
          </a:prstGeom>
        </p:spPr>
        <p:txBody>
          <a:bodyPr lIns="0" tIns="31145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820" b="0" i="0" u="none" strike="noStrike" spc="400">
                <a:solidFill>
                  <a:srgbClr val="20635E"/>
                </a:solidFill>
                <a:latin typeface="Pretendard Light"/>
                <a:ea typeface="Pretendard Light"/>
                <a:cs typeface="Pretendard Light"/>
              </a:rPr>
              <a:t>RESERVATION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20000" y="1270000"/>
            <a:ext cx="4406900" cy="850900"/>
          </a:xfrm>
          <a:prstGeom prst="rect">
            <a:avLst/>
          </a:prstGeom>
        </p:spPr>
        <p:txBody>
          <a:bodyPr lIns="0" tIns="819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793" b="0" i="0" u="none" strike="noStrike" spc="-100">
                <a:solidFill>
                  <a:srgbClr val="20635E"/>
                </a:solidFill>
                <a:latin typeface="Pretendard ExtraBold"/>
                <a:ea typeface="Pretendard ExtraBold"/>
                <a:cs typeface="Pretendard ExtraBold"/>
              </a:rPr>
              <a:t>상담 · 예약 안내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alphaModFix amt="7000"/>
          </a:blip>
          <a:stretch>
            <a:fillRect/>
          </a:stretch>
        </p:blipFill>
        <p:spPr>
          <a:xfrm>
            <a:off x="1244600" y="4864100"/>
            <a:ext cx="5194300" cy="20447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435100" y="673100"/>
            <a:ext cx="4800600" cy="1041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397000" y="5143500"/>
            <a:ext cx="901700" cy="6985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539D98"/>
                </a:solidFill>
                <a:latin typeface="210 Mystery Regular"/>
                <a:ea typeface="210 Mystery Regular"/>
                <a:cs typeface="210 Mystery Regular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59000" y="51816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상담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46500" y="6248400"/>
            <a:ext cx="24257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성향 · 수준 파악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1">
            <a:alphaModFix amt="7000"/>
          </a:blip>
          <a:stretch>
            <a:fillRect/>
          </a:stretch>
        </p:blipFill>
        <p:spPr>
          <a:xfrm>
            <a:off x="1244600" y="7175500"/>
            <a:ext cx="5194300" cy="20447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435100" y="673100"/>
            <a:ext cx="4800600" cy="150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397000" y="7467600"/>
            <a:ext cx="901700" cy="6985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910" b="0" i="1" u="none" strike="noStrike" spc="-100">
                <a:solidFill>
                  <a:srgbClr val="539D98"/>
                </a:solidFill>
                <a:latin typeface="210 Mystery Regular"/>
                <a:ea typeface="210 Mystery Regular"/>
                <a:cs typeface="210 Mystery Regular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59000" y="7505700"/>
            <a:ext cx="1130300" cy="571500"/>
          </a:xfrm>
          <a:prstGeom prst="rect">
            <a:avLst/>
          </a:prstGeom>
        </p:spPr>
        <p:txBody>
          <a:bodyPr lIns="0" tIns="51504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3244" b="0" i="0" u="none" strike="noStrike" spc="-100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배정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46500" y="8572500"/>
            <a:ext cx="2413000" cy="444500"/>
          </a:xfrm>
          <a:prstGeom prst="rect">
            <a:avLst/>
          </a:prstGeom>
        </p:spPr>
        <p:txBody>
          <a:bodyPr lIns="0" tIns="39653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2497" b="0" i="0" u="none" strike="noStrike" spc="-100">
                <a:solidFill>
                  <a:srgbClr val="20635E"/>
                </a:solidFill>
                <a:latin typeface="Pretendard Medium"/>
                <a:ea typeface="Pretendard Medium"/>
                <a:cs typeface="Pretendard Medium"/>
              </a:rPr>
              <a:t>성향 기반 반 편성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0" y="0"/>
            <a:ext cx="14262100" cy="1008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1300" y="406400"/>
            <a:ext cx="13779500" cy="928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175000" y="-1397000"/>
            <a:ext cx="1803400" cy="342900"/>
          </a:xfrm>
          <a:prstGeom prst="rect">
            <a:avLst/>
          </a:prstGeom>
        </p:spPr>
        <p:txBody>
          <a:bodyPr lIns="0" tIns="31145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961" b="0" i="0" u="none" strike="noStrike" spc="4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11500" y="-1054100"/>
            <a:ext cx="4749800" cy="914400"/>
          </a:xfrm>
          <a:prstGeom prst="rect">
            <a:avLst/>
          </a:prstGeom>
        </p:spPr>
        <p:txBody>
          <a:bodyPr lIns="0" tIns="819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5164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11264900"/>
            <a:ext cx="13335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812800" y="2692400"/>
            <a:ext cx="6184900" cy="1676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01700" y="3263900"/>
            <a:ext cx="5994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79500" y="2997200"/>
            <a:ext cx="560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12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2012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2012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1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글쓰기가 입시에 도움이 되나요?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4000" y="3441700"/>
            <a:ext cx="5156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물론입니다. 초등 한 문장이 학생부의 서사로 이어집니다.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812800" y="4597400"/>
            <a:ext cx="6184900" cy="1676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01700" y="5168900"/>
            <a:ext cx="5994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079500" y="4902200"/>
            <a:ext cx="560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12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2012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2012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1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레벨테스트를 봐야 하나요?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346700"/>
            <a:ext cx="51562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아닙니다. 상담을 통해 아이의 성향을 기반으로 반 배정을</a:t>
            </a:r>
          </a:p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하므로 별도의 레벨테스트가 필요하지 않습니다.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800100" y="6477000"/>
            <a:ext cx="6184900" cy="1676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01700" y="7048500"/>
            <a:ext cx="5994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66800" y="6781800"/>
            <a:ext cx="560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12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2012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2012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1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매 수업마다 숙제가 있나요?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1300" y="7226300"/>
            <a:ext cx="51562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글쓰기 숙제는 따로 없으며, 모든 글쓰기는 수업하며 함께 완성합니다.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77100" y="2705100"/>
            <a:ext cx="6184900" cy="1676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7366000" y="3276600"/>
            <a:ext cx="5994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7543800" y="3009900"/>
            <a:ext cx="560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12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2012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2012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1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반 인원은 몇 명인가요?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88300" y="3467100"/>
            <a:ext cx="5156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3~4명 소수 정예로 운영되며, 원장님이 직접 첨삭합니다.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277100" y="4597400"/>
            <a:ext cx="6184900" cy="1676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7366000" y="5168900"/>
            <a:ext cx="5994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7531100" y="4902200"/>
            <a:ext cx="560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12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2012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2012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1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상담은 어떻게 하나요?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300" y="5346700"/>
            <a:ext cx="51562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단톡방 및 밴드로 아이의 학습 현황을 실시간 공유합니다. 그 외 별도의 상담은 문의 바랍니다.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7264400" y="6477000"/>
            <a:ext cx="6184900" cy="1676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7353300" y="7048500"/>
            <a:ext cx="59944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531100" y="6781800"/>
            <a:ext cx="56007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12" b="0" i="0" u="none" strike="noStrike">
                <a:solidFill>
                  <a:srgbClr val="20635E"/>
                </a:solidFill>
                <a:latin typeface="Pretendard Bold"/>
                <a:ea typeface="Pretendard Bold"/>
                <a:cs typeface="Pretendard Bold"/>
              </a:rPr>
              <a:t>Q</a:t>
            </a:r>
            <a:r>
              <a:rPr lang="en-US" sz="2012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.</a:t>
            </a:r>
            <a:r>
              <a:rPr lang="en-US" sz="2012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2012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수업 시간과 횟수는 어떻게 되나요?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75600" y="7226300"/>
            <a:ext cx="5156200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0635E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주 1~2회 90분 수업이며, 학년 · 과정별로 안내드립니다.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3600" y="800100"/>
            <a:ext cx="3048000" cy="355600"/>
          </a:xfrm>
          <a:prstGeom prst="rect">
            <a:avLst/>
          </a:prstGeom>
        </p:spPr>
        <p:txBody>
          <a:bodyPr lIns="0" tIns="2994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020" b="0" i="0" u="none" strike="noStrike" spc="5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0100" y="1244600"/>
            <a:ext cx="4203700" cy="863600"/>
          </a:xfrm>
          <a:prstGeom prst="rect">
            <a:avLst/>
          </a:prstGeom>
        </p:spPr>
        <p:txBody>
          <a:bodyPr lIns="0" tIns="71879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4851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200" y="8966200"/>
            <a:ext cx="1409700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454</Words>
  <Application>Microsoft Office PowerPoint</Application>
  <PresentationFormat>사용자 지정</PresentationFormat>
  <Paragraphs>146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210 Mystery Regular</vt:lpstr>
      <vt:lpstr>Arial</vt:lpstr>
      <vt:lpstr>Pretendard ExtraBold</vt:lpstr>
      <vt:lpstr>Pretendard Regular</vt:lpstr>
      <vt:lpstr>Pretendard Bold</vt:lpstr>
      <vt:lpstr>Calibri</vt:lpstr>
      <vt:lpstr>Pretendard Light</vt:lpstr>
      <vt:lpstr>Pretendard Medium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3</cp:revision>
  <dcterms:created xsi:type="dcterms:W3CDTF">2006-08-16T00:00:00Z</dcterms:created>
  <dcterms:modified xsi:type="dcterms:W3CDTF">2026-06-26T10:04:02Z</dcterms:modified>
</cp:coreProperties>
</file>