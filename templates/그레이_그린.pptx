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</p:sldIdLst>
  <p:sldSz cx="14262100" cy="10083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120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22.png"/><Relationship Id="rId21" Type="http://schemas.openxmlformats.org/officeDocument/2006/relationships/image" Target="../media/image38.png"/><Relationship Id="rId7" Type="http://schemas.openxmlformats.org/officeDocument/2006/relationships/image" Target="../media/image7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21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9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3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7666" b="2233"/>
          <a:stretch/>
        </p:blipFill>
        <p:spPr>
          <a:xfrm>
            <a:off x="-9901" y="58228"/>
            <a:ext cx="4778751" cy="1001287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-12700"/>
            <a:ext cx="4673600" cy="10109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6426200"/>
            <a:ext cx="952500" cy="952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198100" y="6858000"/>
            <a:ext cx="7493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6591300"/>
            <a:ext cx="711200" cy="711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058400" y="74930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내신</a:t>
            </a:r>
            <a:r>
              <a:rPr lang="en-US" sz="57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57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수능 대비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전문 학원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5400" y="6426200"/>
            <a:ext cx="952500" cy="952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557000" y="6858000"/>
            <a:ext cx="7493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3200" y="6692900"/>
            <a:ext cx="5969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404600" y="74803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소수 정원으로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집중 수업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0" y="6426200"/>
            <a:ext cx="952500" cy="952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915900" y="6858000"/>
            <a:ext cx="7493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2100" y="6667500"/>
            <a:ext cx="622300" cy="469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750800" y="74803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 관리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91900" y="8318500"/>
            <a:ext cx="10541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333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상담문의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31500" y="8585200"/>
            <a:ext cx="2336800" cy="4064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266" b="0" i="0" u="none" strike="noStrike" spc="-100">
                <a:solidFill>
                  <a:srgbClr val="FFFFFF"/>
                </a:solidFill>
                <a:latin typeface="210 Mystery Regular"/>
                <a:ea typeface="210 Mystery Regular"/>
                <a:cs typeface="210 Mystery Regular"/>
              </a:rPr>
              <a:t>123-123-1234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42700" y="9461500"/>
            <a:ext cx="952500" cy="355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0" y="0"/>
            <a:ext cx="4813300" cy="10096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7900" y="0"/>
            <a:ext cx="4813300" cy="10096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283200" y="508000"/>
            <a:ext cx="12700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199" b="0" i="0" u="none" strike="noStrike" spc="200">
                <a:solidFill>
                  <a:srgbClr val="22918A"/>
                </a:solidFill>
                <a:latin typeface="Pretendard Light"/>
                <a:ea typeface="Pretendard Light"/>
                <a:cs typeface="Pretendard Light"/>
              </a:rPr>
              <a:t>ADMISSION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19700" y="7620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입학 안내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alphaModFix amt="7000"/>
          </a:blip>
          <a:stretch>
            <a:fillRect/>
          </a:stretch>
        </p:blipFill>
        <p:spPr>
          <a:xfrm>
            <a:off x="5245100" y="1612900"/>
            <a:ext cx="3898900" cy="901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5397500" y="1816100"/>
            <a:ext cx="36068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5359400" y="1828800"/>
            <a:ext cx="6858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539D98"/>
                </a:solidFill>
                <a:latin typeface="210 Mystery Regular"/>
                <a:ea typeface="210 Mystery Regular"/>
                <a:cs typeface="210 Mystery Regular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18200" y="19177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예약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05700" y="1943100"/>
            <a:ext cx="13462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20635E"/>
                </a:solidFill>
                <a:latin typeface="Pretendard Medium"/>
                <a:ea typeface="Pretendard Medium"/>
                <a:cs typeface="Pretendard Medium"/>
              </a:rPr>
              <a:t>전화 · 카카오톡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alphaModFix amt="7000"/>
          </a:blip>
          <a:stretch>
            <a:fillRect/>
          </a:stretch>
        </p:blipFill>
        <p:spPr>
          <a:xfrm>
            <a:off x="5245100" y="2667000"/>
            <a:ext cx="3898900" cy="9017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410200" y="2857500"/>
            <a:ext cx="3556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5359400" y="2870200"/>
            <a:ext cx="6731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539D98"/>
                </a:solidFill>
                <a:latin typeface="210 Mystery Regular"/>
                <a:ea typeface="210 Mystery Regular"/>
                <a:cs typeface="210 Mystery Regular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18200" y="29464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상담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05700" y="2971800"/>
            <a:ext cx="13462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20635E"/>
                </a:solidFill>
                <a:latin typeface="Pretendard Medium"/>
                <a:ea typeface="Pretendard Medium"/>
                <a:cs typeface="Pretendard Medium"/>
              </a:rPr>
              <a:t>성향 · 수준 파악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2">
            <a:alphaModFix amt="7000"/>
          </a:blip>
          <a:stretch>
            <a:fillRect/>
          </a:stretch>
        </p:blipFill>
        <p:spPr>
          <a:xfrm>
            <a:off x="5245100" y="3695700"/>
            <a:ext cx="3898900" cy="9017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410200" y="3898900"/>
            <a:ext cx="3556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5359400" y="3911600"/>
            <a:ext cx="6731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539D98"/>
                </a:solidFill>
                <a:latin typeface="210 Mystery Regular"/>
                <a:ea typeface="210 Mystery Regular"/>
                <a:cs typeface="210 Mystery Regular"/>
              </a:rPr>
              <a:t>03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918200" y="39878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배정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0" y="4013200"/>
            <a:ext cx="13462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20635E"/>
                </a:solidFill>
                <a:latin typeface="Pretendard Medium"/>
                <a:ea typeface="Pretendard Medium"/>
                <a:cs typeface="Pretendard Medium"/>
              </a:rPr>
              <a:t>성향 기반 반 편성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83200" y="5067300"/>
            <a:ext cx="2324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22918A"/>
                </a:solidFill>
                <a:latin typeface="Pretendard Light"/>
                <a:ea typeface="Pretendard Light"/>
                <a:cs typeface="Pretendard Light"/>
              </a:rPr>
              <a:t>RESERVATION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32400" y="53213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상담</a:t>
            </a:r>
            <a:r>
              <a:rPr lang="en-US" sz="2000" b="0" i="0" u="none" strike="noStrike" spc="-100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 </a:t>
            </a:r>
            <a:r>
              <a:rPr lang="en-US" sz="3466" b="0" i="0" u="none" strike="noStrike" spc="-100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lang="en-US" sz="2000" b="0" i="0" u="none" strike="noStrike" spc="-100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3466" b="0" i="0" u="none" strike="noStrike" spc="-100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예약 안내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45100" y="6108700"/>
            <a:ext cx="37846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466" b="0" i="0" u="none" strike="noStrike">
                <a:solidFill>
                  <a:srgbClr val="20635E"/>
                </a:solidFill>
                <a:latin typeface="Pretendard Medium"/>
                <a:ea typeface="Pretendard Medium"/>
                <a:cs typeface="Pretendard Medium"/>
              </a:rPr>
              <a:t>주소 : 대구광역시 달서구 조암로 14 (6F)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5100" y="6565900"/>
            <a:ext cx="3911600" cy="63500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3733800" y="482600"/>
            <a:ext cx="6934200" cy="1280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5448300" y="6743700"/>
            <a:ext cx="34036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카카오톡 ID </a:t>
            </a:r>
            <a:r>
              <a:rPr lang="en-US" sz="6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:</a:t>
            </a:r>
            <a:r>
              <a:rPr lang="en-US" sz="6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@yunsam-academy</a:t>
            </a: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4">
            <a:alphaModFix amt="70000"/>
          </a:blip>
          <a:stretch>
            <a:fillRect/>
          </a:stretch>
        </p:blipFill>
        <p:spPr>
          <a:xfrm>
            <a:off x="5245100" y="7327900"/>
            <a:ext cx="1892300" cy="21717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714500" y="2006600"/>
            <a:ext cx="8953500" cy="1278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5">
            <a:alphaModFix amt="70000"/>
          </a:blip>
          <a:stretch>
            <a:fillRect/>
          </a:stretch>
        </p:blipFill>
        <p:spPr>
          <a:xfrm>
            <a:off x="7251700" y="7327900"/>
            <a:ext cx="1892300" cy="21717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1714500" y="2006600"/>
            <a:ext cx="12954000" cy="1278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11800" y="7493000"/>
            <a:ext cx="330200" cy="3302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50100" y="7416800"/>
            <a:ext cx="914400" cy="4826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5930900" y="7531100"/>
            <a:ext cx="12700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333" b="0" i="0" u="none" strike="noStrike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카카오톡 채널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74000" y="7543800"/>
            <a:ext cx="12700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66" b="0" i="0" u="none" strike="noStrike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네이버 플레이스</a:t>
            </a: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26100" y="7950200"/>
            <a:ext cx="1104900" cy="11049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32700" y="7950200"/>
            <a:ext cx="1104900" cy="1104900"/>
          </a:xfrm>
          <a:prstGeom prst="rect">
            <a:avLst/>
          </a:prstGeom>
        </p:spPr>
      </p:pic>
      <p:sp>
        <p:nvSpPr>
          <p:cNvPr id="54" name="TextBox 54"/>
          <p:cNvSpPr txBox="1"/>
          <p:nvPr/>
        </p:nvSpPr>
        <p:spPr>
          <a:xfrm>
            <a:off x="5410200" y="9156700"/>
            <a:ext cx="1562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채널 추가 후 1</a:t>
            </a:r>
            <a:r>
              <a:rPr lang="en-US" sz="73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sz="609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1 상담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29500" y="9156700"/>
            <a:ext cx="15367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학원 위치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리뷰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예약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95300" y="533400"/>
            <a:ext cx="12700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FAQ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572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자주 묻는 질문</a:t>
            </a: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444500" y="1651000"/>
            <a:ext cx="3886200" cy="1054100"/>
          </a:xfrm>
          <a:prstGeom prst="rect">
            <a:avLst/>
          </a:prstGeom>
        </p:spPr>
      </p:pic>
      <p:sp>
        <p:nvSpPr>
          <p:cNvPr id="59" name="TextBox 59"/>
          <p:cNvSpPr txBox="1"/>
          <p:nvPr/>
        </p:nvSpPr>
        <p:spPr>
          <a:xfrm>
            <a:off x="508000" y="342900"/>
            <a:ext cx="3771900" cy="367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622300" y="18415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글쓰기가 입시에 도움이 되나요?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01700" y="21209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물론입니다. 초등 한 문장이 학생부의 서사로 이어집니다.</a:t>
            </a: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444500" y="2844800"/>
            <a:ext cx="3886200" cy="1054100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508000" y="342900"/>
            <a:ext cx="3771900" cy="607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4" name="TextBox 64"/>
          <p:cNvSpPr txBox="1"/>
          <p:nvPr/>
        </p:nvSpPr>
        <p:spPr>
          <a:xfrm>
            <a:off x="622300" y="30353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레벨테스트를 봐야 하나요?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700" y="33147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아닙니다. 상담을 통해 아이의 성향을 기반으로 반 배정을</a:t>
            </a:r>
          </a:p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하므로 별도의 레벨테스트가 필요하지 않습니다.</a:t>
            </a: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444500" y="4025900"/>
            <a:ext cx="3886200" cy="1054100"/>
          </a:xfrm>
          <a:prstGeom prst="rect">
            <a:avLst/>
          </a:prstGeom>
        </p:spPr>
      </p:pic>
      <p:sp>
        <p:nvSpPr>
          <p:cNvPr id="67" name="TextBox 67"/>
          <p:cNvSpPr txBox="1"/>
          <p:nvPr/>
        </p:nvSpPr>
        <p:spPr>
          <a:xfrm>
            <a:off x="508000" y="342900"/>
            <a:ext cx="3771900" cy="844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8" name="TextBox 68"/>
          <p:cNvSpPr txBox="1"/>
          <p:nvPr/>
        </p:nvSpPr>
        <p:spPr>
          <a:xfrm>
            <a:off x="609600" y="42164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매 수업마다 숙제가 있나요?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01700" y="45085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글쓰기 숙제는 따로 없으며, 모든 글쓰기는 수업하며 함께 완성합니다.</a:t>
            </a: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0">
            <a:alphaModFix amt="90000"/>
          </a:blip>
          <a:stretch>
            <a:fillRect/>
          </a:stretch>
        </p:blipFill>
        <p:spPr>
          <a:xfrm>
            <a:off x="444500" y="5219700"/>
            <a:ext cx="3886200" cy="1054100"/>
          </a:xfrm>
          <a:prstGeom prst="rect">
            <a:avLst/>
          </a:prstGeom>
        </p:spPr>
      </p:pic>
      <p:sp>
        <p:nvSpPr>
          <p:cNvPr id="71" name="TextBox 71"/>
          <p:cNvSpPr txBox="1"/>
          <p:nvPr/>
        </p:nvSpPr>
        <p:spPr>
          <a:xfrm>
            <a:off x="508000" y="342900"/>
            <a:ext cx="3771900" cy="1080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2" name="TextBox 72"/>
          <p:cNvSpPr txBox="1"/>
          <p:nvPr/>
        </p:nvSpPr>
        <p:spPr>
          <a:xfrm>
            <a:off x="609600" y="54102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반 인원은 몇 명인가요?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89000" y="56896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3~4명 소수 정예로 운영되며, 원장님이 직접 첨삭합니다.</a:t>
            </a: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0">
            <a:alphaModFix amt="90000"/>
          </a:blip>
          <a:stretch>
            <a:fillRect/>
          </a:stretch>
        </p:blipFill>
        <p:spPr>
          <a:xfrm>
            <a:off x="444500" y="6400800"/>
            <a:ext cx="3886200" cy="1054100"/>
          </a:xfrm>
          <a:prstGeom prst="rect">
            <a:avLst/>
          </a:prstGeom>
        </p:spPr>
      </p:pic>
      <p:sp>
        <p:nvSpPr>
          <p:cNvPr id="75" name="TextBox 75"/>
          <p:cNvSpPr txBox="1"/>
          <p:nvPr/>
        </p:nvSpPr>
        <p:spPr>
          <a:xfrm>
            <a:off x="495300" y="342900"/>
            <a:ext cx="3771900" cy="131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6" name="TextBox 76"/>
          <p:cNvSpPr txBox="1"/>
          <p:nvPr/>
        </p:nvSpPr>
        <p:spPr>
          <a:xfrm>
            <a:off x="609600" y="65913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학부모 상담은 어떻게 하나요?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89000" y="68707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단톡방 및 밴드로 아이의 학습 현황을 실시간 공유합니다. 그 외 별도의 상담은 문의 바랍니다.</a:t>
            </a: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431800" y="7581900"/>
            <a:ext cx="3886200" cy="1054100"/>
          </a:xfrm>
          <a:prstGeom prst="rect">
            <a:avLst/>
          </a:prstGeom>
        </p:spPr>
      </p:pic>
      <p:sp>
        <p:nvSpPr>
          <p:cNvPr id="79" name="TextBox 79"/>
          <p:cNvSpPr txBox="1"/>
          <p:nvPr/>
        </p:nvSpPr>
        <p:spPr>
          <a:xfrm>
            <a:off x="495300" y="342900"/>
            <a:ext cx="3771900" cy="1555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609600" y="77851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수업 시간과 횟수는 어떻게 되나요?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89000" y="80645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주 1~2회 90분 수업이며, 학년 · 과정별로 안내드립니다.</a:t>
            </a: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 rotWithShape="1">
          <a:blip r:embed="rId21"/>
          <a:srcRect r="42356"/>
          <a:stretch/>
        </p:blipFill>
        <p:spPr>
          <a:xfrm>
            <a:off x="9601200" y="0"/>
            <a:ext cx="4692650" cy="6388100"/>
          </a:xfrm>
          <a:prstGeom prst="rect">
            <a:avLst/>
          </a:prstGeom>
        </p:spPr>
      </p:pic>
      <p:sp>
        <p:nvSpPr>
          <p:cNvPr id="83" name="TextBox 83"/>
          <p:cNvSpPr txBox="1"/>
          <p:nvPr/>
        </p:nvSpPr>
        <p:spPr>
          <a:xfrm>
            <a:off x="10058400" y="850900"/>
            <a:ext cx="3365500" cy="1219200"/>
          </a:xfrm>
          <a:prstGeom prst="rect">
            <a:avLst/>
          </a:prstGeom>
          <a:effectLst>
            <a:outerShdw blurRad="94827" dist="2371" dir="5400000">
              <a:srgbClr val="000000">
                <a:alpha val="70000"/>
              </a:srgbClr>
            </a:outerShdw>
          </a:effectLst>
        </p:spPr>
        <p:txBody>
          <a:bodyPr lIns="0" tIns="56896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37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성적이 달라지는</a:t>
            </a:r>
          </a:p>
          <a:p>
            <a:pPr lvl="0" algn="l">
              <a:lnSpc>
                <a:spcPct val="96279"/>
              </a:lnSpc>
            </a:pPr>
            <a:r>
              <a:rPr lang="en-US" sz="37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전략적 공부 방법</a:t>
            </a: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4200" y="9461500"/>
            <a:ext cx="9525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13329"/>
            <a:ext cx="5689600" cy="1009587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-12700"/>
            <a:ext cx="4673600" cy="10109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0" y="0"/>
            <a:ext cx="4813300" cy="1008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0"/>
            <a:ext cx="4813300" cy="10096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283200" y="508000"/>
            <a:ext cx="1562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539D98"/>
                </a:solidFill>
                <a:latin typeface="Pretendard Light"/>
                <a:ea typeface="Pretendard Light"/>
                <a:cs typeface="Pretendard Light"/>
              </a:rPr>
              <a:t>CURRICULUM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19700" y="7620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교육 과정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5232400" y="8293100"/>
            <a:ext cx="1892300" cy="1397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7239000" y="8293100"/>
            <a:ext cx="1892300" cy="1397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289800" y="8369300"/>
            <a:ext cx="1778000" cy="1244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5537200" y="8420100"/>
            <a:ext cx="12700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333" b="0" i="0" u="none" strike="noStrike">
                <a:solidFill>
                  <a:srgbClr val="22918A"/>
                </a:solidFill>
                <a:latin typeface="Pretendard Bold"/>
                <a:ea typeface="Pretendard Bold"/>
                <a:cs typeface="Pretendard Bold"/>
              </a:rPr>
              <a:t>특별 프로그램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3000" y="8420100"/>
            <a:ext cx="13462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333" b="0" i="0" u="none" strike="noStrike">
                <a:solidFill>
                  <a:srgbClr val="22918A"/>
                </a:solidFill>
                <a:latin typeface="Pretendard Bold"/>
                <a:ea typeface="Pretendard Bold"/>
                <a:cs typeface="Pretendard Bold"/>
              </a:rPr>
              <a:t>학습 지원 프로그램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89550" y="8737600"/>
            <a:ext cx="1841500" cy="8255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시험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대비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집중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특강</a:t>
            </a:r>
            <a:endParaRPr lang="en-US" sz="1200" b="0" i="0" u="none" strike="noStrike" dirty="0">
              <a:solidFill>
                <a:srgbClr val="20635E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독서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토론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프로그램</a:t>
            </a:r>
            <a:endParaRPr lang="en-US" sz="1200" b="0" i="0" u="none" strike="noStrike" dirty="0">
              <a:solidFill>
                <a:srgbClr val="20635E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글쓰기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대회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대비반</a:t>
            </a:r>
            <a:endParaRPr lang="en-US" sz="1200" b="0" i="0" u="none" strike="noStrike" dirty="0">
              <a:solidFill>
                <a:srgbClr val="20635E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방학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집중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학습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프로그램</a:t>
            </a:r>
            <a:endParaRPr lang="en-US" sz="1200" b="0" i="0" u="none" strike="noStrike" dirty="0">
              <a:solidFill>
                <a:srgbClr val="20635E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346950" y="8737600"/>
            <a:ext cx="1536700" cy="8255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개별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학습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상담</a:t>
            </a:r>
            <a:endParaRPr lang="en-US" sz="1200" b="0" i="0" u="none" strike="noStrike" dirty="0">
              <a:solidFill>
                <a:srgbClr val="20635E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첨삭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노트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관리</a:t>
            </a:r>
            <a:endParaRPr lang="en-US" sz="1200" b="0" i="0" u="none" strike="noStrike" dirty="0">
              <a:solidFill>
                <a:srgbClr val="20635E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학습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계획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관리</a:t>
            </a:r>
            <a:endParaRPr lang="en-US" sz="1200" b="0" i="0" u="none" strike="noStrike" dirty="0">
              <a:solidFill>
                <a:srgbClr val="20635E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정기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성적</a:t>
            </a:r>
            <a:r>
              <a:rPr lang="en-US" sz="1200" b="0" i="0" u="none" strike="noStrike" dirty="0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endParaRPr lang="en-US" sz="1200" b="0" i="0" u="none" strike="noStrike" dirty="0">
              <a:solidFill>
                <a:srgbClr val="20635E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95300" y="533400"/>
            <a:ext cx="24257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PHILOSOPHY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72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왜 윤쌤인가</a:t>
            </a:r>
            <a:r>
              <a:rPr lang="en-US" sz="6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3466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?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4200" y="9461500"/>
            <a:ext cx="952500" cy="355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457200" y="1587500"/>
            <a:ext cx="3771900" cy="469900"/>
          </a:xfrm>
          <a:prstGeom prst="rect">
            <a:avLst/>
          </a:prstGeom>
        </p:spPr>
        <p:txBody>
          <a:bodyPr lIns="0" tIns="5080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단순한 문제</a:t>
            </a:r>
            <a:r>
              <a:rPr lang="en-US" sz="9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풀이가 아닌</a:t>
            </a:r>
          </a:p>
          <a:p>
            <a:pPr lvl="0" algn="l">
              <a:lnSpc>
                <a:spcPct val="112050"/>
              </a:lnSpc>
            </a:pPr>
            <a:r>
              <a:rPr lang="en-US" sz="13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체계적인 학습 시스템으로 지도</a:t>
            </a:r>
            <a:r>
              <a:rPr lang="en-US" sz="1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합니다.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444500" y="2895600"/>
            <a:ext cx="3886200" cy="939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508000" y="32004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181100" y="3124200"/>
            <a:ext cx="27051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글쓰기 중심 설계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1100" y="3390900"/>
            <a:ext cx="26924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생각을 표현하는 힘을 키웁니다.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3251200"/>
            <a:ext cx="279400" cy="215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alphaModFix amt="90000"/>
          </a:blip>
          <a:stretch>
            <a:fillRect/>
          </a:stretch>
        </p:blipFill>
        <p:spPr>
          <a:xfrm>
            <a:off x="444500" y="3924300"/>
            <a:ext cx="3886200" cy="9398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08000" y="42291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181100" y="4165600"/>
            <a:ext cx="27051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~</a:t>
            </a:r>
            <a:r>
              <a:rPr lang="en-US" sz="146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인 밀착 관리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1100" y="4432300"/>
            <a:ext cx="26924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원장님이 매 차시 직접 첨삭합니다.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4292600"/>
            <a:ext cx="279400" cy="2159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1">
            <a:alphaModFix amt="90000"/>
          </a:blip>
          <a:stretch>
            <a:fillRect/>
          </a:stretch>
        </p:blipFill>
        <p:spPr>
          <a:xfrm>
            <a:off x="444500" y="4965700"/>
            <a:ext cx="3886200" cy="9398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508000" y="52705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81100" y="5194300"/>
            <a:ext cx="27051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첨삭 중심 구조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1100" y="5461000"/>
            <a:ext cx="26924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작성 → 첨삭 → 다시</a:t>
            </a:r>
            <a:r>
              <a:rPr lang="en-US" sz="933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쓰기를 반복합니다.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5321300"/>
            <a:ext cx="279400" cy="215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0">
            <a:alphaModFix amt="90000"/>
          </a:blip>
          <a:stretch>
            <a:fillRect/>
          </a:stretch>
        </p:blipFill>
        <p:spPr>
          <a:xfrm>
            <a:off x="444500" y="6007100"/>
            <a:ext cx="3886200" cy="9398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08000" y="63119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181100" y="6235700"/>
            <a:ext cx="27051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독서 기반 학습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100" y="6502400"/>
            <a:ext cx="26924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자체 교재와 커리큘럼을 활용합니다.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6362700"/>
            <a:ext cx="279400" cy="2159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444500" y="7035800"/>
            <a:ext cx="3886200" cy="939800"/>
          </a:xfrm>
          <a:prstGeom prst="rect">
            <a:avLst/>
          </a:prstGeom>
        </p:spPr>
      </p:pic>
      <p:sp>
        <p:nvSpPr>
          <p:cNvPr id="40" name="TextBox 40"/>
          <p:cNvSpPr txBox="1"/>
          <p:nvPr/>
        </p:nvSpPr>
        <p:spPr>
          <a:xfrm>
            <a:off x="508000" y="73406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1181100" y="7277100"/>
            <a:ext cx="27051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초</a:t>
            </a:r>
            <a:r>
              <a:rPr lang="en-US" sz="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·</a:t>
            </a:r>
            <a:r>
              <a:rPr lang="en-US" sz="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중</a:t>
            </a:r>
            <a:r>
              <a:rPr lang="en-US" sz="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·</a:t>
            </a:r>
            <a:r>
              <a:rPr lang="en-US" sz="933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고 </a:t>
            </a:r>
            <a:r>
              <a:rPr lang="en-US" sz="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연결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1100" y="7543800"/>
            <a:ext cx="26924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한 줄의 성장 서사를 만들어갑니다.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7404100"/>
            <a:ext cx="279400" cy="2159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444500" y="8077200"/>
            <a:ext cx="3886200" cy="9398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508000" y="83820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1181100" y="8305800"/>
            <a:ext cx="27051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학생부 멘토링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81100" y="8572500"/>
            <a:ext cx="26924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진로상담사 1급이 직접 설계합니다.</a:t>
            </a: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8432800"/>
            <a:ext cx="279400" cy="2159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457200" y="2298700"/>
            <a:ext cx="2362200" cy="4064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266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교육 특징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109200" y="533400"/>
            <a:ext cx="26416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LEARNING</a:t>
            </a:r>
            <a:r>
              <a:rPr lang="en-US" sz="2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MANAGEMENT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0711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학습 관리 시스템</a:t>
            </a: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10058400" y="1612900"/>
            <a:ext cx="3746500" cy="800100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10185400" y="1778000"/>
            <a:ext cx="34798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10287000" y="1778000"/>
            <a:ext cx="3390900" cy="4699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한 명도 놓치지 않는 시스템. </a:t>
            </a:r>
            <a:r>
              <a:rPr lang="en-US" sz="1333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매 차시 첨삭부터 입시</a:t>
            </a:r>
          </a:p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멘토링까지, 학생의 모든 단계를 함께합니다.</a:t>
            </a:r>
          </a:p>
        </p:txBody>
      </p:sp>
      <p:pic>
        <p:nvPicPr>
          <p:cNvPr id="55" name="Picture 5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2489200"/>
            <a:ext cx="1828800" cy="1028700"/>
          </a:xfrm>
          <a:prstGeom prst="rect">
            <a:avLst/>
          </a:prstGeom>
        </p:spPr>
      </p:pic>
      <p:sp>
        <p:nvSpPr>
          <p:cNvPr id="56" name="TextBox 56"/>
          <p:cNvSpPr txBox="1"/>
          <p:nvPr/>
        </p:nvSpPr>
        <p:spPr>
          <a:xfrm>
            <a:off x="10109200" y="2565400"/>
            <a:ext cx="17272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10629900" y="26670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매 차시 첨삭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61600" y="29845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원장 직접 작성 → 첨삭 → 다시 쓰기를 반복합니다.</a:t>
            </a:r>
          </a:p>
        </p:txBody>
      </p:sp>
      <p:pic>
        <p:nvPicPr>
          <p:cNvPr id="59" name="Picture 5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61600" y="2654300"/>
            <a:ext cx="279400" cy="2794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2489200"/>
            <a:ext cx="1828800" cy="1028700"/>
          </a:xfrm>
          <a:prstGeom prst="rect">
            <a:avLst/>
          </a:prstGeom>
        </p:spPr>
      </p:pic>
      <p:sp>
        <p:nvSpPr>
          <p:cNvPr id="61" name="TextBox 61"/>
          <p:cNvSpPr txBox="1"/>
          <p:nvPr/>
        </p:nvSpPr>
        <p:spPr>
          <a:xfrm>
            <a:off x="12039600" y="2908300"/>
            <a:ext cx="17145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12509500" y="2679700"/>
            <a:ext cx="1333500" cy="2159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글쓰기 포트폴리오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192000" y="29845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학년별 글 모음, 입시 자료</a:t>
            </a:r>
          </a:p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로 연결됩니다.</a:t>
            </a: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15800" y="2603500"/>
            <a:ext cx="381000" cy="3810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3606800"/>
            <a:ext cx="1828800" cy="1028700"/>
          </a:xfrm>
          <a:prstGeom prst="rect">
            <a:avLst/>
          </a:prstGeom>
        </p:spPr>
      </p:pic>
      <p:sp>
        <p:nvSpPr>
          <p:cNvPr id="66" name="TextBox 66"/>
          <p:cNvSpPr txBox="1"/>
          <p:nvPr/>
        </p:nvSpPr>
        <p:spPr>
          <a:xfrm>
            <a:off x="10109200" y="3683000"/>
            <a:ext cx="17272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7" name="TextBox 67"/>
          <p:cNvSpPr txBox="1"/>
          <p:nvPr/>
        </p:nvSpPr>
        <p:spPr>
          <a:xfrm>
            <a:off x="10617200" y="37846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학부모 소통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248900" y="41148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단톡방 공유</a:t>
            </a:r>
            <a:r>
              <a:rPr lang="en-US" sz="666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+</a:t>
            </a:r>
            <a:r>
              <a:rPr lang="en-US" sz="666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개인 밴드로</a:t>
            </a:r>
          </a:p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학습 현황을 기록합니다.</a:t>
            </a:r>
          </a:p>
        </p:txBody>
      </p:sp>
      <p:pic>
        <p:nvPicPr>
          <p:cNvPr id="69" name="Picture 6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61600" y="3771900"/>
            <a:ext cx="266700" cy="2667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3606800"/>
            <a:ext cx="1828800" cy="1028700"/>
          </a:xfrm>
          <a:prstGeom prst="rect">
            <a:avLst/>
          </a:prstGeom>
        </p:spPr>
      </p:pic>
      <p:sp>
        <p:nvSpPr>
          <p:cNvPr id="71" name="TextBox 71"/>
          <p:cNvSpPr txBox="1"/>
          <p:nvPr/>
        </p:nvSpPr>
        <p:spPr>
          <a:xfrm>
            <a:off x="12039600" y="4013200"/>
            <a:ext cx="17145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2" name="TextBox 72"/>
          <p:cNvSpPr txBox="1"/>
          <p:nvPr/>
        </p:nvSpPr>
        <p:spPr>
          <a:xfrm>
            <a:off x="12534900" y="37846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정기 </a:t>
            </a:r>
            <a:r>
              <a:rPr lang="en-US" sz="1400" b="0" i="0" u="none" strike="noStrike">
                <a:solidFill>
                  <a:srgbClr val="34585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666" b="0" i="0" u="none" strike="noStrike">
                <a:solidFill>
                  <a:srgbClr val="345855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r>
              <a:rPr lang="en-US" sz="14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:</a:t>
            </a:r>
            <a:r>
              <a:rPr lang="en-US" sz="8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1400" b="0" i="0" u="none" strike="noStrike">
                <a:solidFill>
                  <a:srgbClr val="34585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14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 상담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192000" y="41148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분기별 진로 · 학습 컨설팅</a:t>
            </a:r>
          </a:p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을 진행합니다.</a:t>
            </a: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79300" y="3784600"/>
            <a:ext cx="266700" cy="266700"/>
          </a:xfrm>
          <a:prstGeom prst="rect">
            <a:avLst/>
          </a:prstGeom>
        </p:spPr>
      </p:pic>
      <p:pic>
        <p:nvPicPr>
          <p:cNvPr id="75" name="Picture 7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4711700"/>
            <a:ext cx="1828800" cy="1028700"/>
          </a:xfrm>
          <a:prstGeom prst="rect">
            <a:avLst/>
          </a:prstGeom>
        </p:spPr>
      </p:pic>
      <p:sp>
        <p:nvSpPr>
          <p:cNvPr id="76" name="TextBox 76"/>
          <p:cNvSpPr txBox="1"/>
          <p:nvPr/>
        </p:nvSpPr>
        <p:spPr>
          <a:xfrm>
            <a:off x="1638300" y="863600"/>
            <a:ext cx="18669000" cy="8712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7" name="TextBox 77"/>
          <p:cNvSpPr txBox="1"/>
          <p:nvPr/>
        </p:nvSpPr>
        <p:spPr>
          <a:xfrm>
            <a:off x="10617200" y="48895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학생부 설계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248900" y="5219700"/>
            <a:ext cx="1524000" cy="3810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109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진로진학상담사 1급 컨설팅으로 확실히 설계합니다.</a:t>
            </a:r>
          </a:p>
        </p:txBody>
      </p:sp>
      <p:pic>
        <p:nvPicPr>
          <p:cNvPr id="79" name="Picture 7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61600" y="4876800"/>
            <a:ext cx="266700" cy="266700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4711700"/>
            <a:ext cx="1828800" cy="1028700"/>
          </a:xfrm>
          <a:prstGeom prst="rect">
            <a:avLst/>
          </a:prstGeom>
        </p:spPr>
      </p:pic>
      <p:sp>
        <p:nvSpPr>
          <p:cNvPr id="81" name="TextBox 81"/>
          <p:cNvSpPr txBox="1"/>
          <p:nvPr/>
        </p:nvSpPr>
        <p:spPr>
          <a:xfrm>
            <a:off x="1651000" y="203200"/>
            <a:ext cx="22504400" cy="10045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82" name="TextBox 82"/>
          <p:cNvSpPr txBox="1"/>
          <p:nvPr/>
        </p:nvSpPr>
        <p:spPr>
          <a:xfrm>
            <a:off x="12179300" y="52070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동아리</a:t>
            </a:r>
            <a:r>
              <a:rPr lang="en-US" sz="9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9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수행</a:t>
            </a:r>
            <a:r>
              <a:rPr lang="en-US" sz="9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9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자소서까지</a:t>
            </a:r>
          </a:p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통합하여 대비합니다.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2547600" y="48895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입시 준비</a:t>
            </a: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179300" y="4876800"/>
            <a:ext cx="266700" cy="2667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20">
            <a:alphaModFix amt="90000"/>
          </a:blip>
          <a:stretch>
            <a:fillRect/>
          </a:stretch>
        </p:blipFill>
        <p:spPr>
          <a:xfrm>
            <a:off x="10045700" y="5854700"/>
            <a:ext cx="3771900" cy="1270000"/>
          </a:xfrm>
          <a:prstGeom prst="rect">
            <a:avLst/>
          </a:prstGeom>
        </p:spPr>
      </p:pic>
      <p:sp>
        <p:nvSpPr>
          <p:cNvPr id="86" name="TextBox 86"/>
          <p:cNvSpPr txBox="1"/>
          <p:nvPr/>
        </p:nvSpPr>
        <p:spPr>
          <a:xfrm>
            <a:off x="10172700" y="6248400"/>
            <a:ext cx="34925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87" name="TextBox 87"/>
          <p:cNvSpPr txBox="1"/>
          <p:nvPr/>
        </p:nvSpPr>
        <p:spPr>
          <a:xfrm>
            <a:off x="10287000" y="5981700"/>
            <a:ext cx="15367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주요 실적 </a:t>
            </a:r>
            <a:r>
              <a:rPr lang="en-US" sz="12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1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선택 영역</a:t>
            </a:r>
            <a:r>
              <a:rPr lang="en-US" sz="12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8900" y="6667500"/>
            <a:ext cx="1714500" cy="292100"/>
          </a:xfrm>
          <a:prstGeom prst="rect">
            <a:avLst/>
          </a:prstGeom>
        </p:spPr>
      </p:pic>
      <p:sp>
        <p:nvSpPr>
          <p:cNvPr id="89" name="TextBox 89"/>
          <p:cNvSpPr txBox="1"/>
          <p:nvPr/>
        </p:nvSpPr>
        <p:spPr>
          <a:xfrm>
            <a:off x="10274300" y="6743700"/>
            <a:ext cx="1663700" cy="16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0" name="TextBox 90"/>
          <p:cNvSpPr txBox="1"/>
          <p:nvPr/>
        </p:nvSpPr>
        <p:spPr>
          <a:xfrm>
            <a:off x="10604500" y="6731000"/>
            <a:ext cx="1308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카이스트 · 서울대 합격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287000" y="6731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고등</a:t>
            </a: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734800" y="6286500"/>
            <a:ext cx="1371600" cy="292100"/>
          </a:xfrm>
          <a:prstGeom prst="rect">
            <a:avLst/>
          </a:prstGeom>
        </p:spPr>
      </p:pic>
      <p:sp>
        <p:nvSpPr>
          <p:cNvPr id="93" name="TextBox 93"/>
          <p:cNvSpPr txBox="1"/>
          <p:nvPr/>
        </p:nvSpPr>
        <p:spPr>
          <a:xfrm>
            <a:off x="11760200" y="6362700"/>
            <a:ext cx="1320800" cy="16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4" name="TextBox 94"/>
          <p:cNvSpPr txBox="1"/>
          <p:nvPr/>
        </p:nvSpPr>
        <p:spPr>
          <a:xfrm>
            <a:off x="12090400" y="6337300"/>
            <a:ext cx="9906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국어 </a:t>
            </a:r>
            <a:r>
              <a:rPr lang="en-US" sz="1062" b="0" i="0" u="none" strike="noStrike" spc="-100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A</a:t>
            </a: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등급 다수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772900" y="6350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중등</a:t>
            </a:r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48900" y="6286500"/>
            <a:ext cx="1409700" cy="292100"/>
          </a:xfrm>
          <a:prstGeom prst="rect">
            <a:avLst/>
          </a:prstGeom>
        </p:spPr>
      </p:pic>
      <p:sp>
        <p:nvSpPr>
          <p:cNvPr id="97" name="TextBox 97"/>
          <p:cNvSpPr txBox="1"/>
          <p:nvPr/>
        </p:nvSpPr>
        <p:spPr>
          <a:xfrm>
            <a:off x="10274300" y="6362700"/>
            <a:ext cx="1358900" cy="165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8" name="TextBox 98"/>
          <p:cNvSpPr txBox="1"/>
          <p:nvPr/>
        </p:nvSpPr>
        <p:spPr>
          <a:xfrm>
            <a:off x="10604500" y="6337300"/>
            <a:ext cx="10160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글쓰기 대회 수상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287000" y="6350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초등</a:t>
            </a: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24">
            <a:alphaModFix amt="90000"/>
          </a:blip>
          <a:stretch>
            <a:fillRect/>
          </a:stretch>
        </p:blipFill>
        <p:spPr>
          <a:xfrm>
            <a:off x="10058400" y="7239000"/>
            <a:ext cx="3746500" cy="1181100"/>
          </a:xfrm>
          <a:prstGeom prst="rect">
            <a:avLst/>
          </a:prstGeom>
        </p:spPr>
      </p:pic>
      <p:pic>
        <p:nvPicPr>
          <p:cNvPr id="101" name="Picture 101"/>
          <p:cNvPicPr>
            <a:picLocks noChangeAspect="1"/>
          </p:cNvPicPr>
          <p:nvPr/>
        </p:nvPicPr>
        <p:blipFill>
          <a:blip r:embed="rId25">
            <a:alphaModFix amt="90000"/>
          </a:blip>
          <a:stretch>
            <a:fillRect/>
          </a:stretch>
        </p:blipFill>
        <p:spPr>
          <a:xfrm>
            <a:off x="10058400" y="8509000"/>
            <a:ext cx="3746500" cy="1181100"/>
          </a:xfrm>
          <a:prstGeom prst="rect">
            <a:avLst/>
          </a:prstGeom>
        </p:spPr>
      </p:pic>
      <p:sp>
        <p:nvSpPr>
          <p:cNvPr id="102" name="TextBox 102"/>
          <p:cNvSpPr txBox="1"/>
          <p:nvPr/>
        </p:nvSpPr>
        <p:spPr>
          <a:xfrm>
            <a:off x="3556000" y="1016000"/>
            <a:ext cx="16738600" cy="16141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03" name="TextBox 103"/>
          <p:cNvSpPr txBox="1"/>
          <p:nvPr/>
        </p:nvSpPr>
        <p:spPr>
          <a:xfrm>
            <a:off x="10261600" y="7378700"/>
            <a:ext cx="1536700" cy="241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학생 관리 규정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0261600" y="8648700"/>
            <a:ext cx="1536700" cy="241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환불 및 소통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845800" y="7683500"/>
            <a:ext cx="1803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3회 미제출 시 학부모 연락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0274300" y="76835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과제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845800" y="7886700"/>
            <a:ext cx="182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1회 즉시 학부모 통보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274300" y="78867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결석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845800" y="8077200"/>
            <a:ext cx="20447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반 분위기 침해 · 학교폭력 즉시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274300" y="80899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퇴원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0845800" y="8953500"/>
            <a:ext cx="1803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전액 환불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0274300" y="8953500"/>
            <a:ext cx="55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수강 전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0845800" y="9156700"/>
            <a:ext cx="182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미수강분 전액 환불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0274300" y="9156700"/>
            <a:ext cx="546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수강 후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845800" y="9359900"/>
            <a:ext cx="20447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실시간 안내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0274300" y="93599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출결</a:t>
            </a:r>
          </a:p>
        </p:txBody>
      </p:sp>
      <p:pic>
        <p:nvPicPr>
          <p:cNvPr id="117" name="Picture 117"/>
          <p:cNvPicPr>
            <a:picLocks noChangeAspect="1"/>
          </p:cNvPicPr>
          <p:nvPr/>
        </p:nvPicPr>
        <p:blipFill>
          <a:blip r:embed="rId26">
            <a:alphaModFix amt="80000"/>
          </a:blip>
          <a:stretch>
            <a:fillRect/>
          </a:stretch>
        </p:blipFill>
        <p:spPr>
          <a:xfrm>
            <a:off x="5232400" y="1612900"/>
            <a:ext cx="3898900" cy="2120900"/>
          </a:xfrm>
          <a:prstGeom prst="rect">
            <a:avLst/>
          </a:prstGeom>
        </p:spPr>
      </p:pic>
      <p:sp>
        <p:nvSpPr>
          <p:cNvPr id="118" name="TextBox 118"/>
          <p:cNvSpPr txBox="1"/>
          <p:nvPr/>
        </p:nvSpPr>
        <p:spPr>
          <a:xfrm>
            <a:off x="3695700" y="1689100"/>
            <a:ext cx="69977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19" name="TextBox 119"/>
          <p:cNvSpPr txBox="1"/>
          <p:nvPr/>
        </p:nvSpPr>
        <p:spPr>
          <a:xfrm>
            <a:off x="5461000" y="1778000"/>
            <a:ext cx="20320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초등 과정 </a:t>
            </a:r>
            <a:r>
              <a:rPr lang="en-US" sz="140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140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글쓰기 입문</a:t>
            </a:r>
            <a:r>
              <a:rPr lang="en-US" sz="140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210300" y="2159000"/>
            <a:ext cx="20193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두려움 없는 글쓰기 시작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486400" y="2159000"/>
            <a:ext cx="4699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내용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6210300" y="23622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자체 제작 교재 활용 수업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6210300" y="3086100"/>
            <a:ext cx="22860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글쓰기 · 국어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5486400" y="3086100"/>
            <a:ext cx="6731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주요</a:t>
            </a:r>
            <a:r>
              <a:rPr lang="en-US" sz="66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과목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6210300" y="25781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1,200</a:t>
            </a: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자 첨삭 훈련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6210300" y="27813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독서 기반 사고력 확장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210300" y="3378200"/>
            <a:ext cx="22860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표현력 향상 및 독서 습관 형성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486400" y="3378200"/>
            <a:ext cx="6731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목표</a:t>
            </a:r>
          </a:p>
        </p:txBody>
      </p:sp>
      <p:pic>
        <p:nvPicPr>
          <p:cNvPr id="129" name="Picture 129"/>
          <p:cNvPicPr>
            <a:picLocks noChangeAspect="1"/>
          </p:cNvPicPr>
          <p:nvPr/>
        </p:nvPicPr>
        <p:blipFill>
          <a:blip r:embed="rId26">
            <a:alphaModFix amt="80000"/>
          </a:blip>
          <a:stretch>
            <a:fillRect/>
          </a:stretch>
        </p:blipFill>
        <p:spPr>
          <a:xfrm>
            <a:off x="5232400" y="3822700"/>
            <a:ext cx="3898900" cy="2120900"/>
          </a:xfrm>
          <a:prstGeom prst="rect">
            <a:avLst/>
          </a:prstGeom>
        </p:spPr>
      </p:pic>
      <p:sp>
        <p:nvSpPr>
          <p:cNvPr id="130" name="TextBox 130"/>
          <p:cNvSpPr txBox="1"/>
          <p:nvPr/>
        </p:nvSpPr>
        <p:spPr>
          <a:xfrm>
            <a:off x="3708400" y="1968500"/>
            <a:ext cx="6946900" cy="582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31" name="TextBox 131"/>
          <p:cNvSpPr txBox="1"/>
          <p:nvPr/>
        </p:nvSpPr>
        <p:spPr>
          <a:xfrm>
            <a:off x="5448300" y="3987800"/>
            <a:ext cx="20320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중등 과정 </a:t>
            </a:r>
            <a:r>
              <a:rPr lang="en-US" sz="140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140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내신 대비</a:t>
            </a:r>
            <a:r>
              <a:rPr lang="en-US" sz="140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210300" y="4368800"/>
            <a:ext cx="20193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학교별 국어 내신 집중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5486400" y="4368800"/>
            <a:ext cx="4699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내용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6197600" y="45720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수행평가 완벽 대비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6210300" y="5295900"/>
            <a:ext cx="22860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국어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5486400" y="5295900"/>
            <a:ext cx="6731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주요</a:t>
            </a:r>
            <a:r>
              <a:rPr lang="en-US" sz="66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과목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6197600" y="47879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학교별 맞춤 교재 활용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6197600" y="49911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서술형 문제 훈련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6210300" y="5588000"/>
            <a:ext cx="22860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내신 성적 향상 및 수행평가 대비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5473700" y="5588000"/>
            <a:ext cx="6731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목표</a:t>
            </a:r>
          </a:p>
        </p:txBody>
      </p:sp>
      <p:pic>
        <p:nvPicPr>
          <p:cNvPr id="141" name="Picture 141"/>
          <p:cNvPicPr>
            <a:picLocks noChangeAspect="1"/>
          </p:cNvPicPr>
          <p:nvPr/>
        </p:nvPicPr>
        <p:blipFill>
          <a:blip r:embed="rId27">
            <a:alphaModFix amt="80000"/>
          </a:blip>
          <a:stretch>
            <a:fillRect/>
          </a:stretch>
        </p:blipFill>
        <p:spPr>
          <a:xfrm>
            <a:off x="5232400" y="6032500"/>
            <a:ext cx="3898900" cy="2120900"/>
          </a:xfrm>
          <a:prstGeom prst="rect">
            <a:avLst/>
          </a:prstGeom>
        </p:spPr>
      </p:pic>
      <p:sp>
        <p:nvSpPr>
          <p:cNvPr id="142" name="TextBox 142"/>
          <p:cNvSpPr txBox="1"/>
          <p:nvPr/>
        </p:nvSpPr>
        <p:spPr>
          <a:xfrm>
            <a:off x="3708400" y="1968500"/>
            <a:ext cx="6946900" cy="1024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43" name="TextBox 143"/>
          <p:cNvSpPr txBox="1"/>
          <p:nvPr/>
        </p:nvSpPr>
        <p:spPr>
          <a:xfrm>
            <a:off x="5448300" y="6197600"/>
            <a:ext cx="20320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고등 과정 </a:t>
            </a:r>
            <a:r>
              <a:rPr lang="en-US" sz="140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140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입시 대비</a:t>
            </a:r>
            <a:r>
              <a:rPr lang="en-US" sz="140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6210300" y="6578600"/>
            <a:ext cx="20193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학생부 서사 설계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5473700" y="6578600"/>
            <a:ext cx="4699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내용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6197600" y="67818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진로 · 동아리 전략 수립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6210300" y="7505700"/>
            <a:ext cx="22860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국어 · 입시 컨설팅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5473700" y="7505700"/>
            <a:ext cx="6731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주요</a:t>
            </a:r>
            <a:r>
              <a:rPr lang="en-US" sz="66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과목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6197600" y="69977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수행평가 연계 지도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6197600" y="7200900"/>
            <a:ext cx="18288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입시 멘토링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6210300" y="7797800"/>
            <a:ext cx="22860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학생부 완성 및 대입 준비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473700" y="7797800"/>
            <a:ext cx="673100" cy="2032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1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목표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454</Words>
  <Application>Microsoft Office PowerPoint</Application>
  <PresentationFormat>사용자 지정</PresentationFormat>
  <Paragraphs>144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Pretendard Light</vt:lpstr>
      <vt:lpstr>210 Mystery Regular</vt:lpstr>
      <vt:lpstr>Pretendard Regular</vt:lpstr>
      <vt:lpstr>Arial</vt:lpstr>
      <vt:lpstr>Pretendard ExtraBold</vt:lpstr>
      <vt:lpstr>Calibri</vt:lpstr>
      <vt:lpstr>Pretendard SemiBold</vt:lpstr>
      <vt:lpstr>Pretendard Medium</vt:lpstr>
      <vt:lpstr>Pretendard Bold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5</cp:revision>
  <dcterms:created xsi:type="dcterms:W3CDTF">2006-08-16T00:00:00Z</dcterms:created>
  <dcterms:modified xsi:type="dcterms:W3CDTF">2026-06-26T10:20:09Z</dcterms:modified>
</cp:coreProperties>
</file>