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0" r:id="rId2"/>
    <p:sldId id="264" r:id="rId3"/>
  </p:sldIdLst>
  <p:sldSz cx="14262100" cy="10083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7461" autoAdjust="0"/>
  </p:normalViewPr>
  <p:slideViewPr>
    <p:cSldViewPr>
      <p:cViewPr varScale="1">
        <p:scale>
          <a:sx n="109" d="100"/>
          <a:sy n="109" d="100"/>
        </p:scale>
        <p:origin x="96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30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image" Target="../media/image29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33481" t="2205" b="27954"/>
          <a:stretch/>
        </p:blipFill>
        <p:spPr>
          <a:xfrm>
            <a:off x="44450" y="12700"/>
            <a:ext cx="4756150" cy="10058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-12700"/>
            <a:ext cx="4673600" cy="10109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0" y="0"/>
            <a:ext cx="4813300" cy="1009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0"/>
            <a:ext cx="4813300" cy="10096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283200" y="508000"/>
            <a:ext cx="12700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199" b="0" i="0" u="none" strike="noStrike" spc="2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ADMISSION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19700" y="7620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입학 안내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7000"/>
          </a:blip>
          <a:stretch>
            <a:fillRect/>
          </a:stretch>
        </p:blipFill>
        <p:spPr>
          <a:xfrm>
            <a:off x="5245100" y="1612900"/>
            <a:ext cx="3898900" cy="901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397500" y="1816100"/>
            <a:ext cx="3606800" cy="508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5359400" y="1828800"/>
            <a:ext cx="6858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18200" y="19177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예약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5700" y="1943100"/>
            <a:ext cx="13462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홈페이지 · 전화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alphaModFix amt="7000"/>
          </a:blip>
          <a:stretch>
            <a:fillRect/>
          </a:stretch>
        </p:blipFill>
        <p:spPr>
          <a:xfrm>
            <a:off x="5245100" y="2667000"/>
            <a:ext cx="3898900" cy="9017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410200" y="2857500"/>
            <a:ext cx="3556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5359400" y="2870200"/>
            <a:ext cx="6731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18200" y="29464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진단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16800" y="2971800"/>
            <a:ext cx="14351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과목별 진단 테스트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alphaModFix amt="7000"/>
          </a:blip>
          <a:stretch>
            <a:fillRect/>
          </a:stretch>
        </p:blipFill>
        <p:spPr>
          <a:xfrm>
            <a:off x="5245100" y="3695700"/>
            <a:ext cx="3898900" cy="901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410200" y="3898900"/>
            <a:ext cx="3556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5359400" y="3911600"/>
            <a:ext cx="673100" cy="520700"/>
          </a:xfrm>
          <a:prstGeom prst="rect">
            <a:avLst/>
          </a:prstGeom>
        </p:spPr>
        <p:txBody>
          <a:bodyPr lIns="0" tIns="4656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933" b="0" i="1" u="none" strike="noStrike" spc="-100">
                <a:solidFill>
                  <a:srgbClr val="3E7DC9"/>
                </a:solidFill>
                <a:latin typeface="210 Mystery Regular"/>
                <a:ea typeface="210 Mystery Regular"/>
                <a:cs typeface="210 Mystery Regular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8200" y="3987800"/>
            <a:ext cx="812800" cy="304800"/>
          </a:xfrm>
          <a:prstGeom prst="rect">
            <a:avLst/>
          </a:prstGeom>
        </p:spPr>
        <p:txBody>
          <a:bodyPr lIns="0" tIns="27517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733" b="0" i="0" u="none" strike="noStrike" spc="-100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배정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5700" y="4013200"/>
            <a:ext cx="13462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r">
              <a:lnSpc>
                <a:spcPct val="95449"/>
              </a:lnSpc>
            </a:pPr>
            <a:r>
              <a:rPr lang="en-US" sz="1466" b="0" i="0" u="none" strike="noStrike" spc="-100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담임 및 반 배정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83200" y="5067300"/>
            <a:ext cx="2324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RESERVATION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32400" y="53213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상담</a:t>
            </a:r>
            <a:r>
              <a:rPr lang="en-US" sz="2000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 </a:t>
            </a: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·</a:t>
            </a:r>
            <a:r>
              <a:rPr lang="en-US" sz="2000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예약 안내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45100" y="6108700"/>
            <a:ext cx="37846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466" b="0" i="0" u="none" strike="noStrike">
                <a:solidFill>
                  <a:srgbClr val="0655B5"/>
                </a:solidFill>
                <a:latin typeface="Pretendard Medium"/>
                <a:ea typeface="Pretendard Medium"/>
                <a:cs typeface="Pretendard Medium"/>
              </a:rPr>
              <a:t>주소 : 대구광역시 달서구 조암로 14 (6F)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5100" y="6565900"/>
            <a:ext cx="3911600" cy="635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3733800" y="482600"/>
            <a:ext cx="6934200" cy="12801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5473700" y="6743700"/>
            <a:ext cx="3403600" cy="2667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ID </a:t>
            </a:r>
            <a:r>
              <a:rPr lang="en-US" sz="6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:</a:t>
            </a:r>
            <a:r>
              <a:rPr lang="en-US" sz="6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4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 @sungjang-academy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alphaModFix amt="70000"/>
          </a:blip>
          <a:stretch>
            <a:fillRect/>
          </a:stretch>
        </p:blipFill>
        <p:spPr>
          <a:xfrm>
            <a:off x="5245100" y="7327900"/>
            <a:ext cx="1892300" cy="2171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alphaModFix amt="70000"/>
          </a:blip>
          <a:stretch>
            <a:fillRect/>
          </a:stretch>
        </p:blipFill>
        <p:spPr>
          <a:xfrm>
            <a:off x="7264400" y="7327900"/>
            <a:ext cx="1892300" cy="21717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714500" y="2006600"/>
            <a:ext cx="12992100" cy="12788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1800" y="7493000"/>
            <a:ext cx="330200" cy="330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0100" y="7416800"/>
            <a:ext cx="914400" cy="4826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930900" y="75311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333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874000" y="7543800"/>
            <a:ext cx="12700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66" b="0" i="0" u="none" strike="noStrike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네이버 플레이스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26100" y="7950200"/>
            <a:ext cx="1104900" cy="11049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32700" y="7950200"/>
            <a:ext cx="1104900" cy="1104900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5410200" y="9156700"/>
            <a:ext cx="1562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채널 추가 후 1</a:t>
            </a:r>
            <a:r>
              <a:rPr lang="en-US" sz="73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:</a:t>
            </a:r>
            <a:r>
              <a:rPr lang="en-US" sz="609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1 상담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29500" y="9156700"/>
            <a:ext cx="15367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학원 위치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리뷰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852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18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예약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5300" y="533400"/>
            <a:ext cx="12700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FAQ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72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자주 묻는 질문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6">
            <a:alphaModFix amt="90000"/>
          </a:blip>
          <a:stretch>
            <a:fillRect/>
          </a:stretch>
        </p:blipFill>
        <p:spPr>
          <a:xfrm>
            <a:off x="444500" y="1651000"/>
            <a:ext cx="3886200" cy="10541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508000" y="342900"/>
            <a:ext cx="3771900" cy="367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622300" y="18415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한 과목만 등록할 수 있나요?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01700" y="21209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가능합니다. 다만 전 과목 패키지를 추천드립니다.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6">
            <a:alphaModFix amt="90000"/>
          </a:blip>
          <a:stretch>
            <a:fillRect/>
          </a:stretch>
        </p:blipFill>
        <p:spPr>
          <a:xfrm>
            <a:off x="444500" y="2844800"/>
            <a:ext cx="3886200" cy="10541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508000" y="342900"/>
            <a:ext cx="3771900" cy="6070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622300" y="30353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중간에 과목을 추가할 수 있나요?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1700" y="33147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네, 언제든 담임선생님과 상담 후 추가 등록이 가능합니다.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7">
            <a:alphaModFix amt="90000"/>
          </a:blip>
          <a:stretch>
            <a:fillRect/>
          </a:stretch>
        </p:blipFill>
        <p:spPr>
          <a:xfrm>
            <a:off x="444500" y="4025900"/>
            <a:ext cx="3886200" cy="1054100"/>
          </a:xfrm>
          <a:prstGeom prst="rect">
            <a:avLst/>
          </a:prstGeom>
        </p:spPr>
      </p:pic>
      <p:sp>
        <p:nvSpPr>
          <p:cNvPr id="51" name="TextBox 51"/>
          <p:cNvSpPr txBox="1"/>
          <p:nvPr/>
        </p:nvSpPr>
        <p:spPr>
          <a:xfrm>
            <a:off x="508000" y="342900"/>
            <a:ext cx="3771900" cy="844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609600" y="42164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진단 테스트는 어떻게 진행되나요?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1700" y="45085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테스트는 과목별 30분 내외로 진행되며, 학생 개인별 수준과 약점 등을 파악합니다.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8">
            <a:alphaModFix amt="90000"/>
          </a:blip>
          <a:stretch>
            <a:fillRect/>
          </a:stretch>
        </p:blipFill>
        <p:spPr>
          <a:xfrm>
            <a:off x="444500" y="5219700"/>
            <a:ext cx="3886200" cy="105410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508000" y="342900"/>
            <a:ext cx="3771900" cy="10807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6" name="TextBox 56"/>
          <p:cNvSpPr txBox="1"/>
          <p:nvPr/>
        </p:nvSpPr>
        <p:spPr>
          <a:xfrm>
            <a:off x="609600" y="54102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담임이 모든 과목을 가르치나요?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89000" y="56896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담임선생님은 통합 관리만 하시며, 각 과목은 전담 강사가</a:t>
            </a:r>
          </a:p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수업합니다.</a:t>
            </a: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16">
            <a:alphaModFix amt="90000"/>
          </a:blip>
          <a:stretch>
            <a:fillRect/>
          </a:stretch>
        </p:blipFill>
        <p:spPr>
          <a:xfrm>
            <a:off x="444500" y="6400800"/>
            <a:ext cx="3886200" cy="1054100"/>
          </a:xfrm>
          <a:prstGeom prst="rect">
            <a:avLst/>
          </a:prstGeom>
        </p:spPr>
      </p:pic>
      <p:sp>
        <p:nvSpPr>
          <p:cNvPr id="59" name="TextBox 59"/>
          <p:cNvSpPr txBox="1"/>
          <p:nvPr/>
        </p:nvSpPr>
        <p:spPr>
          <a:xfrm>
            <a:off x="495300" y="342900"/>
            <a:ext cx="3771900" cy="13182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609600" y="65913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학부모 리포트는 얼마나 자주 받나요?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89000" y="6870700"/>
            <a:ext cx="32512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주간 통합 리포트가 담임선생님 단일 채널로 발송되므로 매주 받아보실 수 있습니다.</a:t>
            </a: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431800" y="7581900"/>
            <a:ext cx="3886200" cy="10541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495300" y="342900"/>
            <a:ext cx="3771900" cy="1555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4" name="TextBox 64"/>
          <p:cNvSpPr txBox="1"/>
          <p:nvPr/>
        </p:nvSpPr>
        <p:spPr>
          <a:xfrm>
            <a:off x="609600" y="7785100"/>
            <a:ext cx="3530600" cy="22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66" b="0" i="0" u="none" strike="noStrike">
                <a:solidFill>
                  <a:srgbClr val="082FB5"/>
                </a:solidFill>
                <a:latin typeface="Pretendard Bold"/>
                <a:ea typeface="Pretendard Bold"/>
                <a:cs typeface="Pretendard Bold"/>
              </a:rPr>
              <a:t>Q.</a:t>
            </a:r>
            <a:r>
              <a:rPr lang="en-US" sz="1266" b="0" i="0" u="none" strike="noStrike">
                <a:solidFill>
                  <a:srgbClr val="888888"/>
                </a:solidFill>
                <a:latin typeface="Pretendard Bold"/>
                <a:ea typeface="Pretendard Bold"/>
                <a:cs typeface="Pretendard Bold"/>
              </a:rPr>
              <a:t>   </a:t>
            </a:r>
            <a:r>
              <a:rPr lang="en-US" sz="12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기간에는 어떻게 운영되나요?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89000" y="8064500"/>
            <a:ext cx="3251200" cy="20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133" b="0" i="0" u="none" strike="noStrike">
                <a:solidFill>
                  <a:srgbClr val="0A2784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시험 4주 전부터 전 과목 동시 진행 부스터가 가동됩니다.</a:t>
            </a: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54200" y="9461500"/>
            <a:ext cx="952500" cy="35560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21">
            <a:alphaModFix amt="35000"/>
          </a:blip>
          <a:stretch>
            <a:fillRect/>
          </a:stretch>
        </p:blipFill>
        <p:spPr>
          <a:xfrm>
            <a:off x="9601200" y="0"/>
            <a:ext cx="4673600" cy="3505200"/>
          </a:xfrm>
          <a:prstGeom prst="rect">
            <a:avLst/>
          </a:prstGeom>
        </p:spPr>
      </p:pic>
      <p:sp>
        <p:nvSpPr>
          <p:cNvPr id="68" name="TextBox 68"/>
          <p:cNvSpPr txBox="1"/>
          <p:nvPr/>
        </p:nvSpPr>
        <p:spPr>
          <a:xfrm>
            <a:off x="10058400" y="698500"/>
            <a:ext cx="3365500" cy="1219200"/>
          </a:xfrm>
          <a:prstGeom prst="rect">
            <a:avLst/>
          </a:prstGeom>
          <a:effectLst>
            <a:outerShdw blurRad="90085" dir="5400000">
              <a:srgbClr val="595959">
                <a:alpha val="69000"/>
              </a:srgbClr>
            </a:outerShdw>
          </a:effectLst>
        </p:spPr>
        <p:txBody>
          <a:bodyPr lIns="0" tIns="52155" rIns="0" bIns="0" rtlCol="0" anchor="t"/>
          <a:lstStyle/>
          <a:p>
            <a:pPr lvl="0" algn="l">
              <a:lnSpc>
                <a:spcPct val="97940"/>
              </a:lnSpc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성적이 달라지는</a:t>
            </a:r>
          </a:p>
          <a:p>
            <a:pPr lvl="0" algn="l">
              <a:lnSpc>
                <a:spcPct val="97940"/>
              </a:lnSpc>
            </a:pPr>
            <a:r>
              <a:rPr lang="en-US" sz="37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전략적 공부 방법</a:t>
            </a:r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22">
            <a:alphaModFix amt="50000"/>
          </a:blip>
          <a:stretch>
            <a:fillRect/>
          </a:stretch>
        </p:blipFill>
        <p:spPr>
          <a:xfrm>
            <a:off x="9829800" y="342900"/>
            <a:ext cx="4406900" cy="36703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99700" y="1066800"/>
            <a:ext cx="3822700" cy="5740400"/>
          </a:xfrm>
          <a:prstGeom prst="rect">
            <a:avLst/>
          </a:prstGeom>
          <a:effectLst>
            <a:outerShdw blurRad="745106" dir="5400000">
              <a:srgbClr val="595959">
                <a:alpha val="70000"/>
              </a:srgbClr>
            </a:outerShdw>
          </a:effectLst>
        </p:spPr>
      </p:pic>
      <p:pic>
        <p:nvPicPr>
          <p:cNvPr id="71" name="Picture 7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01200" y="6273800"/>
            <a:ext cx="4673600" cy="3835400"/>
          </a:xfrm>
          <a:prstGeom prst="rect">
            <a:avLst/>
          </a:prstGeom>
          <a:effectLst>
            <a:outerShdw blurRad="191785" dist="59011" dir="21540000">
              <a:srgbClr val="565B61">
                <a:alpha val="45000"/>
              </a:srgbClr>
            </a:outerShdw>
          </a:effectLst>
        </p:spPr>
      </p:pic>
      <p:sp>
        <p:nvSpPr>
          <p:cNvPr id="72" name="TextBox 72"/>
          <p:cNvSpPr txBox="1"/>
          <p:nvPr/>
        </p:nvSpPr>
        <p:spPr>
          <a:xfrm>
            <a:off x="4216400" y="3429000"/>
            <a:ext cx="15455900" cy="951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96500" y="6680200"/>
            <a:ext cx="952500" cy="952500"/>
          </a:xfrm>
          <a:prstGeom prst="rect">
            <a:avLst/>
          </a:prstGeom>
        </p:spPr>
      </p:pic>
      <p:sp>
        <p:nvSpPr>
          <p:cNvPr id="74" name="TextBox 74"/>
          <p:cNvSpPr txBox="1"/>
          <p:nvPr/>
        </p:nvSpPr>
        <p:spPr>
          <a:xfrm>
            <a:off x="10198100" y="71120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10800" y="6845300"/>
            <a:ext cx="711200" cy="711200"/>
          </a:xfrm>
          <a:prstGeom prst="rect">
            <a:avLst/>
          </a:prstGeom>
        </p:spPr>
      </p:pic>
      <p:sp>
        <p:nvSpPr>
          <p:cNvPr id="76" name="TextBox 76"/>
          <p:cNvSpPr txBox="1"/>
          <p:nvPr/>
        </p:nvSpPr>
        <p:spPr>
          <a:xfrm>
            <a:off x="10058400" y="77470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내신</a:t>
            </a:r>
            <a:r>
              <a:rPr lang="en-US" sz="57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-US" sz="571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수능 대비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전문 학원</a:t>
            </a:r>
          </a:p>
        </p:txBody>
      </p:sp>
      <p:pic>
        <p:nvPicPr>
          <p:cNvPr id="77" name="Picture 7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55400" y="6680200"/>
            <a:ext cx="952500" cy="952500"/>
          </a:xfrm>
          <a:prstGeom prst="rect">
            <a:avLst/>
          </a:prstGeom>
        </p:spPr>
      </p:pic>
      <p:sp>
        <p:nvSpPr>
          <p:cNvPr id="78" name="TextBox 78"/>
          <p:cNvSpPr txBox="1"/>
          <p:nvPr/>
        </p:nvSpPr>
        <p:spPr>
          <a:xfrm>
            <a:off x="11557000" y="7112000"/>
            <a:ext cx="749300" cy="114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79" name="Picture 7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633200" y="6946900"/>
            <a:ext cx="596900" cy="406400"/>
          </a:xfrm>
          <a:prstGeom prst="rect">
            <a:avLst/>
          </a:prstGeom>
        </p:spPr>
      </p:pic>
      <p:sp>
        <p:nvSpPr>
          <p:cNvPr id="80" name="TextBox 80"/>
          <p:cNvSpPr txBox="1"/>
          <p:nvPr/>
        </p:nvSpPr>
        <p:spPr>
          <a:xfrm>
            <a:off x="11404600" y="77343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소수 정원으로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집중 수업</a:t>
            </a:r>
          </a:p>
        </p:txBody>
      </p:sp>
      <p:pic>
        <p:nvPicPr>
          <p:cNvPr id="81" name="Picture 8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827000" y="6680200"/>
            <a:ext cx="952500" cy="952500"/>
          </a:xfrm>
          <a:prstGeom prst="rect">
            <a:avLst/>
          </a:prstGeom>
        </p:spPr>
      </p:pic>
      <p:sp>
        <p:nvSpPr>
          <p:cNvPr id="82" name="TextBox 82"/>
          <p:cNvSpPr txBox="1"/>
          <p:nvPr/>
        </p:nvSpPr>
        <p:spPr>
          <a:xfrm>
            <a:off x="711200" y="114300"/>
            <a:ext cx="25171400" cy="14097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83" name="Picture 8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992100" y="6921500"/>
            <a:ext cx="622300" cy="469900"/>
          </a:xfrm>
          <a:prstGeom prst="rect">
            <a:avLst/>
          </a:prstGeom>
        </p:spPr>
      </p:pic>
      <p:sp>
        <p:nvSpPr>
          <p:cNvPr id="84" name="TextBox 84"/>
          <p:cNvSpPr txBox="1"/>
          <p:nvPr/>
        </p:nvSpPr>
        <p:spPr>
          <a:xfrm>
            <a:off x="12750800" y="7734300"/>
            <a:ext cx="1054100" cy="393700"/>
          </a:xfrm>
          <a:prstGeom prst="rect">
            <a:avLst/>
          </a:prstGeom>
        </p:spPr>
        <p:txBody>
          <a:bodyPr lIns="0" tIns="21336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성적 관리</a:t>
            </a:r>
          </a:p>
          <a:p>
            <a:pPr lvl="0" algn="ctr">
              <a:lnSpc>
                <a:spcPct val="98770"/>
              </a:lnSpc>
            </a:pPr>
            <a:r>
              <a:rPr lang="en-US" sz="1142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391900" y="8458200"/>
            <a:ext cx="1054100" cy="2413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1333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상담문의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31500" y="8724900"/>
            <a:ext cx="2336800" cy="4064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ctr">
              <a:lnSpc>
                <a:spcPct val="95449"/>
              </a:lnSpc>
            </a:pPr>
            <a:r>
              <a:rPr lang="en-US" sz="2266" b="0" i="0" u="none" strike="noStrike" spc="-100">
                <a:solidFill>
                  <a:srgbClr val="FFFFFF"/>
                </a:solidFill>
                <a:latin typeface="210 Mystery Regular"/>
                <a:ea typeface="210 Mystery Regular"/>
                <a:cs typeface="210 Mystery Regular"/>
              </a:rPr>
              <a:t>123-123-1234</a:t>
            </a:r>
          </a:p>
        </p:txBody>
      </p:sp>
      <p:pic>
        <p:nvPicPr>
          <p:cNvPr id="87" name="Picture 8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42700" y="9461500"/>
            <a:ext cx="9525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29738" b="4578"/>
          <a:stretch/>
        </p:blipFill>
        <p:spPr>
          <a:xfrm>
            <a:off x="44450" y="12700"/>
            <a:ext cx="4756150" cy="10058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-12700"/>
            <a:ext cx="4673600" cy="10109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216400" y="190500"/>
            <a:ext cx="15443200" cy="970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0" y="0"/>
            <a:ext cx="4813300" cy="1009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0"/>
            <a:ext cx="4813300" cy="10096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283200" y="482600"/>
            <a:ext cx="15621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0655B5"/>
                </a:solidFill>
                <a:latin typeface="Pretendard Light"/>
                <a:ea typeface="Pretendard Light"/>
                <a:cs typeface="Pretendard Light"/>
              </a:rPr>
              <a:t>CURRICULUM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9700" y="7239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0655B5"/>
                </a:solidFill>
                <a:latin typeface="Pretendard ExtraBold"/>
                <a:ea typeface="Pretendard ExtraBold"/>
                <a:cs typeface="Pretendard ExtraBold"/>
              </a:rPr>
              <a:t>교육 과정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5300" y="533400"/>
            <a:ext cx="24257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PHILOSOPHY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왜 성장학원인가</a:t>
            </a:r>
            <a:r>
              <a:rPr lang="en-US" sz="6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34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?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4200" y="9461500"/>
            <a:ext cx="952500" cy="355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57200" y="1587500"/>
            <a:ext cx="3771900" cy="469900"/>
          </a:xfrm>
          <a:prstGeom prst="rect">
            <a:avLst/>
          </a:prstGeom>
        </p:spPr>
        <p:txBody>
          <a:bodyPr lIns="0" tIns="5080" rIns="0" bIns="0" rtlCol="0" anchor="t"/>
          <a:lstStyle/>
          <a:p>
            <a:pPr lvl="0" algn="l">
              <a:lnSpc>
                <a:spcPct val="112050"/>
              </a:lnSpc>
            </a:pP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단순한 문제</a:t>
            </a:r>
            <a:r>
              <a:rPr lang="en-US" sz="9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풀이가 아닌</a:t>
            </a:r>
          </a:p>
          <a:p>
            <a:pPr lvl="0" algn="l">
              <a:lnSpc>
                <a:spcPct val="112050"/>
              </a:lnSpc>
            </a:pPr>
            <a:r>
              <a:rPr lang="en-US" sz="13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체계적인 학습 시스템으로 지도</a:t>
            </a:r>
            <a:r>
              <a:rPr lang="en-US" sz="1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3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합니다.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44500" y="2895600"/>
            <a:ext cx="3886200" cy="939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08000" y="32004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181100" y="31242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학년 담임 통합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100" y="33909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진도와 생활을 함께 관리합니다.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3251200"/>
            <a:ext cx="279400" cy="215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444500" y="3924300"/>
            <a:ext cx="3886200" cy="939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08000" y="42291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181100" y="41656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과목별 전담 강사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100" y="44323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5년 이상 경력의 전문 강사진입니다.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500" y="4292600"/>
            <a:ext cx="2794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alphaModFix amt="90000"/>
          </a:blip>
          <a:stretch>
            <a:fillRect/>
          </a:stretch>
        </p:blipFill>
        <p:spPr>
          <a:xfrm>
            <a:off x="444500" y="4965700"/>
            <a:ext cx="3886200" cy="939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508000" y="52705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181100" y="51943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1100" y="54610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학습 현황을 한 페이지로 공유합니다.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5321300"/>
            <a:ext cx="279400" cy="215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44500" y="6007100"/>
            <a:ext cx="3886200" cy="9398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508000" y="63119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1181100" y="62357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과목 간 연계 학습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81100" y="65024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독해 · 지문을 교차로 활용합니다.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6362700"/>
            <a:ext cx="279400" cy="2159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alphaModFix amt="90000"/>
          </a:blip>
          <a:stretch>
            <a:fillRect/>
          </a:stretch>
        </p:blipFill>
        <p:spPr>
          <a:xfrm>
            <a:off x="444500" y="7035800"/>
            <a:ext cx="3886200" cy="9398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508000" y="73406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181100" y="72771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시험 </a:t>
            </a:r>
            <a:r>
              <a:rPr lang="en-US" sz="1466" b="0" i="0" u="none" strike="noStrike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주 대비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100" y="75438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전 과목 동시 부스터를 가동합니다.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7404100"/>
            <a:ext cx="279400" cy="215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44500" y="8077200"/>
            <a:ext cx="3886200" cy="9398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508000" y="8382000"/>
            <a:ext cx="3771900" cy="342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1181100" y="8305800"/>
            <a:ext cx="2857500" cy="26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466" b="0" i="0" u="none" strike="noStrike">
                <a:solidFill>
                  <a:srgbClr val="595959"/>
                </a:solidFill>
                <a:latin typeface="Pretendard Bold"/>
                <a:ea typeface="Pretendard Bold"/>
                <a:cs typeface="Pretendard Bold"/>
              </a:rPr>
              <a:t>초등 · 중등 · 고등 진학 연결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81100" y="8572500"/>
            <a:ext cx="28448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>
                <a:solidFill>
                  <a:srgbClr val="595959">
                    <a:alpha val="90196"/>
                  </a:srgbClr>
                </a:solidFill>
                <a:latin typeface="Pretendard Medium"/>
                <a:ea typeface="Pretendard Medium"/>
                <a:cs typeface="Pretendard Medium"/>
              </a:rPr>
              <a:t>기초부터 시작해 고등까지 이어갑니다.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" y="8432800"/>
            <a:ext cx="279400" cy="2159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457200" y="2298700"/>
            <a:ext cx="2362200" cy="406400"/>
          </a:xfrm>
          <a:prstGeom prst="rect">
            <a:avLst/>
          </a:prstGeom>
        </p:spPr>
        <p:txBody>
          <a:bodyPr lIns="0" tIns="3598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2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교육 특징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09200" y="533400"/>
            <a:ext cx="2641600" cy="2286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LEARNING</a:t>
            </a:r>
            <a:r>
              <a:rPr lang="en-US" sz="2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 </a:t>
            </a:r>
            <a:r>
              <a:rPr lang="en-US" sz="1200" b="0" i="0" u="none" strike="noStrike" spc="30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MANAGEMENT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71100" y="774700"/>
            <a:ext cx="3352800" cy="622300"/>
          </a:xfrm>
          <a:prstGeom prst="rect">
            <a:avLst/>
          </a:prstGeom>
        </p:spPr>
        <p:txBody>
          <a:bodyPr lIns="0" tIns="55033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4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학습 관리 시스템</a:t>
            </a: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12">
            <a:alphaModFix amt="90000"/>
          </a:blip>
          <a:stretch>
            <a:fillRect/>
          </a:stretch>
        </p:blipFill>
        <p:spPr>
          <a:xfrm>
            <a:off x="10058400" y="1612900"/>
            <a:ext cx="3746500" cy="8001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10185400" y="1778000"/>
            <a:ext cx="3479800" cy="444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10274300" y="1778000"/>
            <a:ext cx="3390900" cy="4699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 spc="-100">
                <a:solidFill>
                  <a:srgbClr val="0A2784"/>
                </a:solidFill>
                <a:latin typeface="Pretendard Bold"/>
                <a:ea typeface="Pretendard Bold"/>
                <a:cs typeface="Pretendard Bold"/>
              </a:rPr>
              <a:t>학년 담임이 전 과목을 책임집니다. </a:t>
            </a:r>
            <a:r>
              <a:rPr lang="en-US" sz="1333" b="0" i="0" u="none" strike="noStrike" spc="-100">
                <a:solidFill>
                  <a:srgbClr val="0A2784"/>
                </a:solidFill>
                <a:latin typeface="Pretendard Regular"/>
                <a:ea typeface="Pretendard Regular"/>
                <a:cs typeface="Pretendard Regular"/>
              </a:rPr>
              <a:t>흩어진 학원 4곳</a:t>
            </a:r>
          </a:p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0A2784"/>
                </a:solidFill>
                <a:latin typeface="Pretendard Regular"/>
                <a:ea typeface="Pretendard Regular"/>
                <a:cs typeface="Pretendard Regular"/>
              </a:rPr>
              <a:t>이 아닌, 한 곳에서 통합으로 관리받습니다.</a:t>
            </a:r>
          </a:p>
        </p:txBody>
      </p:sp>
      <p:pic>
        <p:nvPicPr>
          <p:cNvPr id="49" name="Picture 4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2489200"/>
            <a:ext cx="1828800" cy="10287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0109200" y="25654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10629900" y="26670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일일 테스트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274300" y="29845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과목별 매일 테스트, 담임 통합 피드백을 합니다.</a:t>
            </a:r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2489200"/>
            <a:ext cx="1828800" cy="1028700"/>
          </a:xfrm>
          <a:prstGeom prst="rect">
            <a:avLst/>
          </a:prstGeom>
        </p:spPr>
      </p:pic>
      <p:sp>
        <p:nvSpPr>
          <p:cNvPr id="54" name="TextBox 54"/>
          <p:cNvSpPr txBox="1"/>
          <p:nvPr/>
        </p:nvSpPr>
        <p:spPr>
          <a:xfrm>
            <a:off x="12039600" y="29083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12534900" y="2679700"/>
            <a:ext cx="13335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주간 통합 리포트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179300" y="29845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전 과목 진행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과제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 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666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테스트가 한 페이지에 담깁니다.</a:t>
            </a:r>
          </a:p>
        </p:txBody>
      </p:sp>
      <p:pic>
        <p:nvPicPr>
          <p:cNvPr id="57" name="Picture 5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8400" y="3606800"/>
            <a:ext cx="1828800" cy="1028700"/>
          </a:xfrm>
          <a:prstGeom prst="rect">
            <a:avLst/>
          </a:prstGeom>
        </p:spPr>
      </p:pic>
      <p:sp>
        <p:nvSpPr>
          <p:cNvPr id="58" name="TextBox 58"/>
          <p:cNvSpPr txBox="1"/>
          <p:nvPr/>
        </p:nvSpPr>
        <p:spPr>
          <a:xfrm>
            <a:off x="10109200" y="36830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59" name="TextBox 59"/>
          <p:cNvSpPr txBox="1"/>
          <p:nvPr/>
        </p:nvSpPr>
        <p:spPr>
          <a:xfrm>
            <a:off x="10617200" y="3784600"/>
            <a:ext cx="13335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시험 </a:t>
            </a:r>
            <a:r>
              <a:rPr lang="en-US" sz="1266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주 부스터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61600" y="41148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자동 가동, 약점 영역 우선</a:t>
            </a:r>
          </a:p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순위를 조정합니다.</a:t>
            </a:r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3606800"/>
            <a:ext cx="1828800" cy="1028700"/>
          </a:xfrm>
          <a:prstGeom prst="rect">
            <a:avLst/>
          </a:prstGeom>
        </p:spPr>
      </p:pic>
      <p:sp>
        <p:nvSpPr>
          <p:cNvPr id="62" name="TextBox 62"/>
          <p:cNvSpPr txBox="1"/>
          <p:nvPr/>
        </p:nvSpPr>
        <p:spPr>
          <a:xfrm>
            <a:off x="12039600" y="40132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12547600" y="37719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담임 </a:t>
            </a:r>
            <a:r>
              <a:rPr lang="en-US" sz="1400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666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 </a:t>
            </a: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:</a:t>
            </a:r>
            <a:r>
              <a:rPr lang="en-US" sz="8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1400" b="0" i="0" u="none" strike="noStrike">
                <a:solidFill>
                  <a:srgbClr val="0655B5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 면담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192000" y="41148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월간 학습</a:t>
            </a:r>
            <a:r>
              <a:rPr lang="en-US" sz="800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·</a:t>
            </a:r>
            <a:r>
              <a:rPr lang="en-US" sz="800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진로 정기 상담을 진행합니다.</a:t>
            </a:r>
          </a:p>
        </p:txBody>
      </p:sp>
      <p:pic>
        <p:nvPicPr>
          <p:cNvPr id="65" name="Picture 6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8400" y="4711700"/>
            <a:ext cx="1828800" cy="1028700"/>
          </a:xfrm>
          <a:prstGeom prst="rect">
            <a:avLst/>
          </a:prstGeom>
        </p:spPr>
      </p:pic>
      <p:sp>
        <p:nvSpPr>
          <p:cNvPr id="66" name="TextBox 66"/>
          <p:cNvSpPr txBox="1"/>
          <p:nvPr/>
        </p:nvSpPr>
        <p:spPr>
          <a:xfrm>
            <a:off x="10109200" y="4787900"/>
            <a:ext cx="1727200" cy="863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10617200" y="4902200"/>
            <a:ext cx="13335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학부모 단일 채널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274300" y="5219700"/>
            <a:ext cx="1524000" cy="393700"/>
          </a:xfrm>
          <a:prstGeom prst="rect">
            <a:avLst/>
          </a:prstGeom>
        </p:spPr>
        <p:txBody>
          <a:bodyPr lIns="0" tIns="8128" rIns="0" bIns="0" rtlCol="0" anchor="t"/>
          <a:lstStyle/>
          <a:p>
            <a:pPr lvl="0" algn="l">
              <a:lnSpc>
                <a:spcPct val="109559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담임 카톡 채널로 전 과목 통합 소통이 가능합니다.</a:t>
            </a:r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8800" y="4711700"/>
            <a:ext cx="1828800" cy="1028700"/>
          </a:xfrm>
          <a:prstGeom prst="rect">
            <a:avLst/>
          </a:prstGeom>
        </p:spPr>
      </p:pic>
      <p:sp>
        <p:nvSpPr>
          <p:cNvPr id="70" name="TextBox 70"/>
          <p:cNvSpPr txBox="1"/>
          <p:nvPr/>
        </p:nvSpPr>
        <p:spPr>
          <a:xfrm>
            <a:off x="12039600" y="5130800"/>
            <a:ext cx="1714500" cy="20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12179300" y="5207000"/>
            <a:ext cx="1524000" cy="393700"/>
          </a:xfrm>
          <a:prstGeom prst="rect">
            <a:avLst/>
          </a:prstGeom>
        </p:spPr>
        <p:txBody>
          <a:bodyPr lIns="0" tIns="14224" rIns="0" bIns="0" rtlCol="0" anchor="t"/>
          <a:lstStyle/>
          <a:p>
            <a:pPr lvl="0" algn="l">
              <a:lnSpc>
                <a:spcPct val="104580"/>
              </a:lnSpc>
            </a:pPr>
            <a:r>
              <a:rPr lang="en-US" sz="1133" b="0" i="0" u="none" strike="noStrike">
                <a:solidFill>
                  <a:srgbClr val="0A2784"/>
                </a:solidFill>
                <a:latin typeface="Pretendard Medium"/>
                <a:ea typeface="Pretendard Medium"/>
                <a:cs typeface="Pretendard Medium"/>
              </a:rPr>
              <a:t>학생별 약점 영역 추적 및 우선 순위를 조정합니다.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2560300" y="4889500"/>
            <a:ext cx="1346200" cy="2540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00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학습 플래너</a:t>
            </a:r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15">
            <a:alphaModFix amt="90000"/>
          </a:blip>
          <a:stretch>
            <a:fillRect/>
          </a:stretch>
        </p:blipFill>
        <p:spPr>
          <a:xfrm>
            <a:off x="10045700" y="5854700"/>
            <a:ext cx="3771900" cy="1270000"/>
          </a:xfrm>
          <a:prstGeom prst="rect">
            <a:avLst/>
          </a:prstGeom>
        </p:spPr>
      </p:pic>
      <p:sp>
        <p:nvSpPr>
          <p:cNvPr id="74" name="TextBox 74"/>
          <p:cNvSpPr txBox="1"/>
          <p:nvPr/>
        </p:nvSpPr>
        <p:spPr>
          <a:xfrm>
            <a:off x="10172700" y="6045200"/>
            <a:ext cx="3505200" cy="889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10287000" y="5981700"/>
            <a:ext cx="1536700" cy="2286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실적 </a:t>
            </a:r>
            <a:r>
              <a:rPr lang="en-US" sz="12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en-US" sz="1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선택 영역</a:t>
            </a:r>
            <a:r>
              <a:rPr lang="en-US" sz="12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48900" y="6667500"/>
            <a:ext cx="1549400" cy="292100"/>
          </a:xfrm>
          <a:prstGeom prst="rect">
            <a:avLst/>
          </a:prstGeom>
        </p:spPr>
      </p:pic>
      <p:sp>
        <p:nvSpPr>
          <p:cNvPr id="77" name="TextBox 77"/>
          <p:cNvSpPr txBox="1"/>
          <p:nvPr/>
        </p:nvSpPr>
        <p:spPr>
          <a:xfrm>
            <a:off x="1447800" y="165100"/>
            <a:ext cx="19164300" cy="133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10604500" y="6731000"/>
            <a:ext cx="1168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등급 상승 사례 다수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287000" y="6731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모의</a:t>
            </a: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49100" y="6286500"/>
            <a:ext cx="1295400" cy="292100"/>
          </a:xfrm>
          <a:prstGeom prst="rect">
            <a:avLst/>
          </a:prstGeom>
        </p:spPr>
      </p:pic>
      <p:sp>
        <p:nvSpPr>
          <p:cNvPr id="81" name="TextBox 81"/>
          <p:cNvSpPr txBox="1"/>
          <p:nvPr/>
        </p:nvSpPr>
        <p:spPr>
          <a:xfrm>
            <a:off x="1193800" y="165100"/>
            <a:ext cx="22606000" cy="1254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12166600" y="6337300"/>
            <a:ext cx="9906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주요 대학 합격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1887200" y="6350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고등</a:t>
            </a: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48900" y="6286500"/>
            <a:ext cx="1524000" cy="292100"/>
          </a:xfrm>
          <a:prstGeom prst="rect">
            <a:avLst/>
          </a:prstGeom>
        </p:spPr>
      </p:pic>
      <p:sp>
        <p:nvSpPr>
          <p:cNvPr id="85" name="TextBox 85"/>
          <p:cNvSpPr txBox="1"/>
          <p:nvPr/>
        </p:nvSpPr>
        <p:spPr>
          <a:xfrm>
            <a:off x="1422400" y="165100"/>
            <a:ext cx="19189700" cy="1254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86" name="TextBox 86"/>
          <p:cNvSpPr txBox="1"/>
          <p:nvPr/>
        </p:nvSpPr>
        <p:spPr>
          <a:xfrm>
            <a:off x="10668000" y="6337300"/>
            <a:ext cx="10160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</a:t>
            </a:r>
            <a:r>
              <a:rPr lang="en-US" sz="666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과목 A등급 다수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287000" y="6350000"/>
            <a:ext cx="406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ctr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중등</a:t>
            </a: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9">
            <a:alphaModFix amt="90000"/>
          </a:blip>
          <a:stretch>
            <a:fillRect/>
          </a:stretch>
        </p:blipFill>
        <p:spPr>
          <a:xfrm>
            <a:off x="10058400" y="7239000"/>
            <a:ext cx="3746500" cy="1181100"/>
          </a:xfrm>
          <a:prstGeom prst="rect">
            <a:avLst/>
          </a:prstGeom>
        </p:spPr>
      </p:pic>
      <p:pic>
        <p:nvPicPr>
          <p:cNvPr id="89" name="Picture 89"/>
          <p:cNvPicPr>
            <a:picLocks noChangeAspect="1"/>
          </p:cNvPicPr>
          <p:nvPr/>
        </p:nvPicPr>
        <p:blipFill>
          <a:blip r:embed="rId20">
            <a:alphaModFix amt="90000"/>
          </a:blip>
          <a:stretch>
            <a:fillRect/>
          </a:stretch>
        </p:blipFill>
        <p:spPr>
          <a:xfrm>
            <a:off x="10058400" y="8509000"/>
            <a:ext cx="3746500" cy="1181100"/>
          </a:xfrm>
          <a:prstGeom prst="rect">
            <a:avLst/>
          </a:prstGeom>
        </p:spPr>
      </p:pic>
      <p:sp>
        <p:nvSpPr>
          <p:cNvPr id="90" name="TextBox 90"/>
          <p:cNvSpPr txBox="1"/>
          <p:nvPr/>
        </p:nvSpPr>
        <p:spPr>
          <a:xfrm>
            <a:off x="10096500" y="8585200"/>
            <a:ext cx="3644900" cy="1016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sp>
        <p:nvSpPr>
          <p:cNvPr id="91" name="TextBox 91"/>
          <p:cNvSpPr txBox="1"/>
          <p:nvPr/>
        </p:nvSpPr>
        <p:spPr>
          <a:xfrm>
            <a:off x="10261600" y="7378700"/>
            <a:ext cx="1536700" cy="241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학생 관리 규정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261600" y="8648700"/>
            <a:ext cx="1536700" cy="2413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333" b="0" i="0" u="none" strike="noStrike">
                <a:solidFill>
                  <a:srgbClr val="0655B5"/>
                </a:solidFill>
                <a:latin typeface="Pretendard Bold"/>
                <a:ea typeface="Pretendard Bold"/>
                <a:cs typeface="Pretendard Bold"/>
              </a:rPr>
              <a:t>환불 및 소통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845800" y="7683500"/>
            <a:ext cx="1803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2회 연속 미제출 시 담임 연락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0274300" y="76835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과제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0845800" y="7886700"/>
            <a:ext cx="182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1회 즉시 학부모 통보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0274300" y="78867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결석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0845800" y="8077200"/>
            <a:ext cx="20447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반 분위기 침해 · 학교폭력 즉시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274300" y="80899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퇴원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0833100" y="8953500"/>
            <a:ext cx="18034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전액 환불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261600" y="8953500"/>
            <a:ext cx="55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수강 전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845800" y="9156700"/>
            <a:ext cx="18288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미수강분 전액 환불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274300" y="9156700"/>
            <a:ext cx="546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수강 후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845800" y="9359900"/>
            <a:ext cx="20447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 spc="-100">
                <a:solidFill>
                  <a:srgbClr val="565B61"/>
                </a:solidFill>
                <a:latin typeface="Pretendard SemiBold"/>
                <a:ea typeface="Pretendard SemiBold"/>
                <a:cs typeface="Pretendard SemiBold"/>
              </a:rPr>
              <a:t>담임선생님 채널 실시간 안내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0274300" y="9359900"/>
            <a:ext cx="419100" cy="190500"/>
          </a:xfrm>
          <a:prstGeom prst="rect">
            <a:avLst/>
          </a:prstGeom>
        </p:spPr>
        <p:txBody>
          <a:bodyPr lIns="0" tIns="2032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1062" b="0" i="0" u="none" strike="noStrike">
                <a:solidFill>
                  <a:srgbClr val="3E7DC9"/>
                </a:solidFill>
                <a:latin typeface="Pretendard ExtraBold"/>
                <a:ea typeface="Pretendard ExtraBold"/>
                <a:cs typeface="Pretendard ExtraBold"/>
              </a:rPr>
              <a:t>출결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5245100" y="14605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국어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245100" y="35560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영어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245100" y="56515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수학</a:t>
            </a:r>
          </a:p>
        </p:txBody>
      </p:sp>
      <p:pic>
        <p:nvPicPr>
          <p:cNvPr id="108" name="Picture 10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61600" y="2654300"/>
            <a:ext cx="266700" cy="266700"/>
          </a:xfrm>
          <a:prstGeom prst="rect">
            <a:avLst/>
          </a:prstGeom>
        </p:spPr>
      </p:pic>
      <p:pic>
        <p:nvPicPr>
          <p:cNvPr id="109" name="Picture 10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61600" y="3771900"/>
            <a:ext cx="266700" cy="266700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166600" y="2654300"/>
            <a:ext cx="279400" cy="279400"/>
          </a:xfrm>
          <a:prstGeom prst="rect">
            <a:avLst/>
          </a:prstGeom>
        </p:spPr>
      </p:pic>
      <p:pic>
        <p:nvPicPr>
          <p:cNvPr id="111" name="Picture 11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179300" y="3771900"/>
            <a:ext cx="279400" cy="279400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166600" y="2654300"/>
            <a:ext cx="279400" cy="279400"/>
          </a:xfrm>
          <a:prstGeom prst="rect">
            <a:avLst/>
          </a:prstGeom>
        </p:spPr>
      </p:pic>
      <p:pic>
        <p:nvPicPr>
          <p:cNvPr id="113" name="Picture 11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1600" y="4876800"/>
            <a:ext cx="266700" cy="266700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166600" y="4876800"/>
            <a:ext cx="266700" cy="266700"/>
          </a:xfrm>
          <a:prstGeom prst="rect">
            <a:avLst/>
          </a:prstGeom>
        </p:spPr>
      </p:pic>
      <p:sp>
        <p:nvSpPr>
          <p:cNvPr id="115" name="TextBox 115"/>
          <p:cNvSpPr txBox="1"/>
          <p:nvPr/>
        </p:nvSpPr>
        <p:spPr>
          <a:xfrm>
            <a:off x="5245100" y="7759700"/>
            <a:ext cx="558800" cy="266700"/>
          </a:xfrm>
          <a:prstGeom prst="rect">
            <a:avLst/>
          </a:prstGeom>
        </p:spPr>
        <p:txBody>
          <a:bodyPr lIns="0" tIns="3048" rIns="0" bIns="0" rtlCol="0" anchor="t"/>
          <a:lstStyle/>
          <a:p>
            <a:pPr lvl="0" algn="l">
              <a:lnSpc>
                <a:spcPct val="113710"/>
              </a:lnSpc>
            </a:pPr>
            <a:r>
              <a:rPr lang="en-US" sz="1466" b="0" i="0" u="none" strike="noStrike">
                <a:solidFill>
                  <a:srgbClr val="3E7DC9"/>
                </a:solidFill>
                <a:latin typeface="Pretendard Bold"/>
                <a:ea typeface="Pretendard Bold"/>
                <a:cs typeface="Pretendard Bold"/>
              </a:rPr>
              <a:t>과학</a:t>
            </a:r>
          </a:p>
        </p:txBody>
      </p:sp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245100" y="17780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글쓰기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일기 · 독후감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주제 글쓰기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자소서 · 논술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다독 · 낭독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비문학 · 문학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고전 · 현대문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어휘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EBS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6F6F6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7" name="Table 117"/>
          <p:cNvGraphicFramePr>
            <a:graphicFrameLocks noGrp="1"/>
          </p:cNvGraphicFramePr>
          <p:nvPr/>
        </p:nvGraphicFramePr>
        <p:xfrm>
          <a:off x="5245100" y="38735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파닉스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 · 심화 문법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구능 어법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리딩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 · 장문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독해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회화</a:t>
                      </a:r>
                      <a:r>
                        <a:rPr lang="en-US" sz="666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·</a:t>
                      </a:r>
                      <a:r>
                        <a:rPr lang="en-US" sz="666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회화 · 청해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듣기 훈련 · 실전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수능 듣기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5245100" y="59690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A278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사고력 · 연산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중등 개념 ·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고1 공통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도형 · 측정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유형 · 최상위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 응용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경시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심화 · 경시 · 선행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r>
                        <a:rPr lang="en-US" sz="5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 · 수</a:t>
                      </a:r>
                      <a:r>
                        <a:rPr lang="en-US" sz="533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II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0655B5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9" name="Table 119"/>
          <p:cNvGraphicFramePr>
            <a:graphicFrameLocks noGrp="1"/>
          </p:cNvGraphicFramePr>
          <p:nvPr/>
        </p:nvGraphicFramePr>
        <p:xfrm>
          <a:off x="5245100" y="8077200"/>
          <a:ext cx="3928323" cy="1623186"/>
        </p:xfrm>
        <a:graphic>
          <a:graphicData uri="http://schemas.openxmlformats.org/drawingml/2006/table">
            <a:tbl>
              <a:tblPr/>
              <a:tblGrid>
                <a:gridCol w="671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/</a:t>
                      </a:r>
                      <a:r>
                        <a:rPr lang="en-US" sz="933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 </a:t>
                      </a:r>
                      <a:r>
                        <a:rPr lang="en-US" sz="10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학년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DC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초등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중등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고등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45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호기심 탐구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통합과학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 · 관찰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탐구 보고서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실험 심화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교과서 정독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학교별 맞춤 · 서술형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내신 변별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7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133" b="0" i="0" u="none" strike="noStrike">
                          <a:solidFill>
                            <a:srgbClr val="72727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기초 개념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실전 입문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1066" b="0" i="0" u="none" strike="noStrike">
                          <a:solidFill>
                            <a:srgbClr val="72727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모의 · 수능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227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469</Words>
  <Application>Microsoft Office PowerPoint</Application>
  <PresentationFormat>사용자 지정</PresentationFormat>
  <Paragraphs>185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2" baseType="lpstr">
      <vt:lpstr>Pretendard Light</vt:lpstr>
      <vt:lpstr>Arial</vt:lpstr>
      <vt:lpstr>Pretendard Bold</vt:lpstr>
      <vt:lpstr>Pretendard Regular</vt:lpstr>
      <vt:lpstr>210 Mystery Regular</vt:lpstr>
      <vt:lpstr>Pretendard Medium</vt:lpstr>
      <vt:lpstr>Calibri</vt:lpstr>
      <vt:lpstr>Pretendard SemiBold</vt:lpstr>
      <vt:lpstr>Pretendard ExtraBold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7</cp:revision>
  <dcterms:created xsi:type="dcterms:W3CDTF">2006-08-16T00:00:00Z</dcterms:created>
  <dcterms:modified xsi:type="dcterms:W3CDTF">2026-06-26T10:18:27Z</dcterms:modified>
</cp:coreProperties>
</file>